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Calibri (MS)" charset="1" panose="020F0502020204030204"/>
      <p:regular r:id="rId30"/>
    </p:embeddedFont>
    <p:embeddedFont>
      <p:font typeface="Trebuchet MS Bold" charset="1" panose="020B0703020202020204"/>
      <p:regular r:id="rId31"/>
    </p:embeddedFont>
    <p:embeddedFont>
      <p:font typeface="Calibri (MS) Italics" charset="1" panose="020F05020202040A0204"/>
      <p:regular r:id="rId32"/>
    </p:embeddedFont>
    <p:embeddedFont>
      <p:font typeface="Calibri (MS) Bold" charset="1" panose="020F0702030404030204"/>
      <p:regular r:id="rId33"/>
    </p:embeddedFont>
    <p:embeddedFont>
      <p:font typeface="Open Sans Bold" charset="1" panose="020B080603050402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png" Type="http://schemas.openxmlformats.org/officeDocument/2006/relationships/image"/><Relationship Id="rId4" Target="../media/image1.jpe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5131"/>
            <a:chOff x="0" y="0"/>
            <a:chExt cx="24417871" cy="180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74503" y="-2755906"/>
            <a:ext cx="10998203" cy="10998203"/>
            <a:chOff x="0" y="0"/>
            <a:chExt cx="14664271" cy="146642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6891" y="16891"/>
              <a:ext cx="14630399" cy="14630401"/>
            </a:xfrm>
            <a:custGeom>
              <a:avLst/>
              <a:gdLst/>
              <a:ahLst/>
              <a:cxnLst/>
              <a:rect r="r" b="b" t="t" l="l"/>
              <a:pathLst>
                <a:path h="14630401" w="14630399">
                  <a:moveTo>
                    <a:pt x="0" y="7315200"/>
                  </a:moveTo>
                  <a:cubicBezTo>
                    <a:pt x="0" y="3275076"/>
                    <a:pt x="3275076" y="0"/>
                    <a:pt x="7315200" y="0"/>
                  </a:cubicBezTo>
                  <a:cubicBezTo>
                    <a:pt x="11355324" y="0"/>
                    <a:pt x="14630399" y="3275076"/>
                    <a:pt x="14630399" y="7315200"/>
                  </a:cubicBezTo>
                  <a:cubicBezTo>
                    <a:pt x="14630399" y="11355324"/>
                    <a:pt x="11355324" y="14630401"/>
                    <a:pt x="7315200" y="14630401"/>
                  </a:cubicBezTo>
                  <a:cubicBezTo>
                    <a:pt x="3275076" y="14630401"/>
                    <a:pt x="0" y="11355324"/>
                    <a:pt x="0" y="7315200"/>
                  </a:cubicBezTo>
                  <a:close/>
                </a:path>
              </a:pathLst>
            </a:custGeom>
            <a:solidFill>
              <a:srgbClr val="2A3A6E">
                <a:alpha val="1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41774" y="1041749"/>
            <a:ext cx="14472923" cy="476812"/>
            <a:chOff x="0" y="0"/>
            <a:chExt cx="19297231" cy="6357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97230" cy="635755"/>
            </a:xfrm>
            <a:custGeom>
              <a:avLst/>
              <a:gdLst/>
              <a:ahLst/>
              <a:cxnLst/>
              <a:rect r="r" b="b" t="t" l="l"/>
              <a:pathLst>
                <a:path h="635755" w="19297230">
                  <a:moveTo>
                    <a:pt x="0" y="0"/>
                  </a:moveTo>
                  <a:lnTo>
                    <a:pt x="19297230" y="0"/>
                  </a:lnTo>
                  <a:lnTo>
                    <a:pt x="19297230" y="635755"/>
                  </a:lnTo>
                  <a:lnTo>
                    <a:pt x="0" y="6357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1434" r="0" b="-54143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9297231" cy="6833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spc="399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Máster en Data Analytics 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41774" y="2981963"/>
            <a:ext cx="12644123" cy="2448563"/>
            <a:chOff x="0" y="0"/>
            <a:chExt cx="16858831" cy="32647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858830" cy="3264749"/>
            </a:xfrm>
            <a:custGeom>
              <a:avLst/>
              <a:gdLst/>
              <a:ahLst/>
              <a:cxnLst/>
              <a:rect r="r" b="b" t="t" l="l"/>
              <a:pathLst>
                <a:path h="3264749" w="16858830">
                  <a:moveTo>
                    <a:pt x="0" y="0"/>
                  </a:moveTo>
                  <a:lnTo>
                    <a:pt x="16858830" y="0"/>
                  </a:lnTo>
                  <a:lnTo>
                    <a:pt x="16858830" y="3264749"/>
                  </a:lnTo>
                  <a:lnTo>
                    <a:pt x="0" y="326474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18" r="0" b="-5061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04775"/>
              <a:ext cx="16858831" cy="336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504"/>
                </a:lnSpc>
              </a:pPr>
              <a:r>
                <a:rPr lang="en-US" sz="7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Marketing Data-Driven</a:t>
              </a:r>
            </a:p>
            <a:p>
              <a:pPr algn="l">
                <a:lnSpc>
                  <a:spcPts val="9504"/>
                </a:lnSpc>
              </a:pPr>
              <a:r>
                <a:rPr lang="en-US" sz="72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en Fintech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41774" y="6004770"/>
            <a:ext cx="12644123" cy="1157816"/>
            <a:chOff x="0" y="0"/>
            <a:chExt cx="16858831" cy="15437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858830" cy="1543761"/>
            </a:xfrm>
            <a:custGeom>
              <a:avLst/>
              <a:gdLst/>
              <a:ahLst/>
              <a:cxnLst/>
              <a:rect r="r" b="b" t="t" l="l"/>
              <a:pathLst>
                <a:path h="1543761" w="16858830">
                  <a:moveTo>
                    <a:pt x="0" y="0"/>
                  </a:moveTo>
                  <a:lnTo>
                    <a:pt x="16858830" y="0"/>
                  </a:lnTo>
                  <a:lnTo>
                    <a:pt x="16858830" y="1543761"/>
                  </a:lnTo>
                  <a:lnTo>
                    <a:pt x="0" y="15437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789" r="0" b="-1627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61925"/>
              <a:ext cx="16858831" cy="1705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67"/>
                </a:lnSpc>
              </a:pPr>
              <a:r>
                <a:rPr lang="en-US" sz="2799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Análisis de campañas de telemarketing y modelo predictivo</a:t>
              </a:r>
            </a:p>
            <a:p>
              <a:pPr algn="l">
                <a:lnSpc>
                  <a:spcPts val="4367"/>
                </a:lnSpc>
              </a:pPr>
              <a:r>
                <a:rPr lang="en-US" sz="2799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contratación de depósitos a plazo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37637" y="7564117"/>
            <a:ext cx="3708406" cy="50806"/>
            <a:chOff x="0" y="0"/>
            <a:chExt cx="4944542" cy="677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3909" y="0"/>
              <a:ext cx="4876800" cy="67691"/>
            </a:xfrm>
            <a:custGeom>
              <a:avLst/>
              <a:gdLst/>
              <a:ahLst/>
              <a:cxnLst/>
              <a:rect r="r" b="b" t="t" l="l"/>
              <a:pathLst>
                <a:path h="67691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41774" y="8060036"/>
            <a:ext cx="14472923" cy="522008"/>
            <a:chOff x="0" y="0"/>
            <a:chExt cx="19297231" cy="6960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297230" cy="696016"/>
            </a:xfrm>
            <a:custGeom>
              <a:avLst/>
              <a:gdLst/>
              <a:ahLst/>
              <a:cxnLst/>
              <a:rect r="r" b="b" t="t" l="l"/>
              <a:pathLst>
                <a:path h="696016" w="19297230">
                  <a:moveTo>
                    <a:pt x="0" y="0"/>
                  </a:moveTo>
                  <a:lnTo>
                    <a:pt x="19297230" y="0"/>
                  </a:lnTo>
                  <a:lnTo>
                    <a:pt x="19297230" y="696016"/>
                  </a:lnTo>
                  <a:lnTo>
                    <a:pt x="0" y="6960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0228" r="0" b="-49022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297231" cy="734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Grupo 1:  Ángel - Marc - Ricardo - Pablo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41774" y="8951309"/>
            <a:ext cx="7157723" cy="476822"/>
            <a:chOff x="0" y="0"/>
            <a:chExt cx="9543631" cy="6357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43629" cy="635757"/>
            </a:xfrm>
            <a:custGeom>
              <a:avLst/>
              <a:gdLst/>
              <a:ahLst/>
              <a:cxnLst/>
              <a:rect r="r" b="b" t="t" l="l"/>
              <a:pathLst>
                <a:path h="635757" w="9543629">
                  <a:moveTo>
                    <a:pt x="0" y="0"/>
                  </a:moveTo>
                  <a:lnTo>
                    <a:pt x="9543629" y="0"/>
                  </a:lnTo>
                  <a:lnTo>
                    <a:pt x="9543629" y="635757"/>
                  </a:lnTo>
                  <a:lnTo>
                    <a:pt x="0" y="6357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498" r="0" b="-24249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543631" cy="6833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Marzo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0334" y="861060"/>
            <a:ext cx="14655803" cy="838200"/>
            <a:chOff x="0" y="0"/>
            <a:chExt cx="19541071" cy="111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41069" cy="1117603"/>
            </a:xfrm>
            <a:custGeom>
              <a:avLst/>
              <a:gdLst/>
              <a:ahLst/>
              <a:cxnLst/>
              <a:rect r="r" b="b" t="t" l="l"/>
              <a:pathLst>
                <a:path h="1117603" w="19541069">
                  <a:moveTo>
                    <a:pt x="0" y="0"/>
                  </a:moveTo>
                  <a:lnTo>
                    <a:pt x="19541069" y="0"/>
                  </a:lnTo>
                  <a:lnTo>
                    <a:pt x="19541069" y="1117603"/>
                  </a:lnTo>
                  <a:lnTo>
                    <a:pt x="0" y="1117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692" r="0" b="-2906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9541071" cy="1127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E2761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Agenda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30303" y="2547623"/>
            <a:ext cx="3683003" cy="6426203"/>
            <a:chOff x="0" y="0"/>
            <a:chExt cx="4910671" cy="8568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48768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30303" y="2547623"/>
            <a:ext cx="3683003" cy="116843"/>
            <a:chOff x="0" y="0"/>
            <a:chExt cx="4910671" cy="1557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6891" y="16891"/>
              <a:ext cx="4876800" cy="121920"/>
            </a:xfrm>
            <a:custGeom>
              <a:avLst/>
              <a:gdLst/>
              <a:ahLst/>
              <a:cxnLst/>
              <a:rect r="r" b="b" t="t" l="l"/>
              <a:pathLst>
                <a:path h="1219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30303" y="3147060"/>
            <a:ext cx="3683003" cy="838200"/>
            <a:chOff x="0" y="0"/>
            <a:chExt cx="4910671" cy="1117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10667" cy="1117603"/>
            </a:xfrm>
            <a:custGeom>
              <a:avLst/>
              <a:gdLst/>
              <a:ahLst/>
              <a:cxnLst/>
              <a:rect r="r" b="b" t="t" l="l"/>
              <a:pathLst>
                <a:path h="1117603" w="4910667">
                  <a:moveTo>
                    <a:pt x="0" y="0"/>
                  </a:moveTo>
                  <a:lnTo>
                    <a:pt x="4910667" y="0"/>
                  </a:lnTo>
                  <a:lnTo>
                    <a:pt x="4910667" y="1117603"/>
                  </a:lnTo>
                  <a:lnTo>
                    <a:pt x="0" y="1117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16" r="0" b="-3561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4910671" cy="1127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3B82F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04614" y="4460243"/>
            <a:ext cx="3134363" cy="406403"/>
            <a:chOff x="0" y="0"/>
            <a:chExt cx="4179151" cy="5418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79149" cy="541869"/>
            </a:xfrm>
            <a:custGeom>
              <a:avLst/>
              <a:gdLst/>
              <a:ahLst/>
              <a:cxnLst/>
              <a:rect r="r" b="b" t="t" l="l"/>
              <a:pathLst>
                <a:path h="541869" w="4179149">
                  <a:moveTo>
                    <a:pt x="0" y="0"/>
                  </a:moveTo>
                  <a:lnTo>
                    <a:pt x="4179149" y="0"/>
                  </a:lnTo>
                  <a:lnTo>
                    <a:pt x="4179149" y="541869"/>
                  </a:lnTo>
                  <a:lnTo>
                    <a:pt x="0" y="5418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277" r="0" b="-10027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4179151" cy="551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Contexto y datos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04614" y="5647030"/>
            <a:ext cx="3134363" cy="684571"/>
            <a:chOff x="0" y="0"/>
            <a:chExt cx="4179151" cy="9127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79149" cy="912763"/>
            </a:xfrm>
            <a:custGeom>
              <a:avLst/>
              <a:gdLst/>
              <a:ahLst/>
              <a:cxnLst/>
              <a:rect r="r" b="b" t="t" l="l"/>
              <a:pathLst>
                <a:path h="912763" w="4179149">
                  <a:moveTo>
                    <a:pt x="0" y="0"/>
                  </a:moveTo>
                  <a:lnTo>
                    <a:pt x="4179149" y="0"/>
                  </a:lnTo>
                  <a:lnTo>
                    <a:pt x="4179149" y="912763"/>
                  </a:lnTo>
                  <a:lnTo>
                    <a:pt x="0" y="91276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213" r="0" b="-3921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4179151" cy="988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0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Problema de negocio, dataset</a:t>
              </a:r>
            </a:p>
            <a:p>
              <a:pPr algn="ctr">
                <a:lnSpc>
                  <a:spcPts val="2879"/>
                </a:lnSpc>
              </a:pPr>
              <a:r>
                <a:rPr lang="en-US" sz="20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 contexto macroeconómico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04614" y="7485469"/>
            <a:ext cx="3134363" cy="299542"/>
            <a:chOff x="0" y="0"/>
            <a:chExt cx="4179151" cy="3993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79149" cy="399392"/>
            </a:xfrm>
            <a:custGeom>
              <a:avLst/>
              <a:gdLst/>
              <a:ahLst/>
              <a:cxnLst/>
              <a:rect r="r" b="b" t="t" l="l"/>
              <a:pathLst>
                <a:path h="399392" w="4179149">
                  <a:moveTo>
                    <a:pt x="0" y="0"/>
                  </a:moveTo>
                  <a:lnTo>
                    <a:pt x="4179149" y="0"/>
                  </a:lnTo>
                  <a:lnTo>
                    <a:pt x="4179149" y="399392"/>
                  </a:lnTo>
                  <a:lnTo>
                    <a:pt x="0" y="3993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3887" r="0" b="-15388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179151" cy="437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Pablo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251447" y="2553967"/>
            <a:ext cx="3670297" cy="6413506"/>
            <a:chOff x="0" y="0"/>
            <a:chExt cx="4893729" cy="855134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8509" y="8509"/>
              <a:ext cx="48768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93818" cy="8551418"/>
            </a:xfrm>
            <a:custGeom>
              <a:avLst/>
              <a:gdLst/>
              <a:ahLst/>
              <a:cxnLst/>
              <a:rect r="r" b="b" t="t" l="l"/>
              <a:pathLst>
                <a:path h="8551418" w="4893818">
                  <a:moveTo>
                    <a:pt x="8509" y="0"/>
                  </a:moveTo>
                  <a:lnTo>
                    <a:pt x="4885309" y="0"/>
                  </a:lnTo>
                  <a:cubicBezTo>
                    <a:pt x="4890008" y="0"/>
                    <a:pt x="4893818" y="3810"/>
                    <a:pt x="4893818" y="8509"/>
                  </a:cubicBezTo>
                  <a:lnTo>
                    <a:pt x="4893818" y="8542909"/>
                  </a:lnTo>
                  <a:cubicBezTo>
                    <a:pt x="4893818" y="8547608"/>
                    <a:pt x="4890008" y="8551418"/>
                    <a:pt x="4885309" y="8551418"/>
                  </a:cubicBezTo>
                  <a:lnTo>
                    <a:pt x="8509" y="8551418"/>
                  </a:lnTo>
                  <a:cubicBezTo>
                    <a:pt x="3810" y="8551418"/>
                    <a:pt x="0" y="8547608"/>
                    <a:pt x="0" y="8542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542909"/>
                  </a:lnTo>
                  <a:lnTo>
                    <a:pt x="8509" y="8542909"/>
                  </a:lnTo>
                  <a:lnTo>
                    <a:pt x="8509" y="8534400"/>
                  </a:lnTo>
                  <a:lnTo>
                    <a:pt x="4885309" y="8534400"/>
                  </a:lnTo>
                  <a:lnTo>
                    <a:pt x="4885309" y="8542909"/>
                  </a:lnTo>
                  <a:lnTo>
                    <a:pt x="4876800" y="8542909"/>
                  </a:lnTo>
                  <a:lnTo>
                    <a:pt x="4876800" y="8509"/>
                  </a:lnTo>
                  <a:lnTo>
                    <a:pt x="4885309" y="8509"/>
                  </a:lnTo>
                  <a:lnTo>
                    <a:pt x="4885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245103" y="3147060"/>
            <a:ext cx="3683003" cy="838200"/>
            <a:chOff x="0" y="0"/>
            <a:chExt cx="4910671" cy="1117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10667" cy="1117603"/>
            </a:xfrm>
            <a:custGeom>
              <a:avLst/>
              <a:gdLst/>
              <a:ahLst/>
              <a:cxnLst/>
              <a:rect r="r" b="b" t="t" l="l"/>
              <a:pathLst>
                <a:path h="1117603" w="4910667">
                  <a:moveTo>
                    <a:pt x="0" y="0"/>
                  </a:moveTo>
                  <a:lnTo>
                    <a:pt x="4910667" y="0"/>
                  </a:lnTo>
                  <a:lnTo>
                    <a:pt x="4910667" y="1117603"/>
                  </a:lnTo>
                  <a:lnTo>
                    <a:pt x="0" y="1117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16" r="0" b="-3561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4910671" cy="1127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E2E8F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519423" y="4269743"/>
            <a:ext cx="3134363" cy="787403"/>
            <a:chOff x="0" y="0"/>
            <a:chExt cx="4179151" cy="10498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79149" cy="1049869"/>
            </a:xfrm>
            <a:custGeom>
              <a:avLst/>
              <a:gdLst/>
              <a:ahLst/>
              <a:cxnLst/>
              <a:rect r="r" b="b" t="t" l="l"/>
              <a:pathLst>
                <a:path h="1049869" w="4179149">
                  <a:moveTo>
                    <a:pt x="0" y="0"/>
                  </a:moveTo>
                  <a:lnTo>
                    <a:pt x="4179149" y="0"/>
                  </a:lnTo>
                  <a:lnTo>
                    <a:pt x="4179149" y="1049869"/>
                  </a:lnTo>
                  <a:lnTo>
                    <a:pt x="0" y="10498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2" r="0" b="-2756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4179151" cy="1059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Análisis exploratorio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519423" y="5647030"/>
            <a:ext cx="3134363" cy="684571"/>
            <a:chOff x="0" y="0"/>
            <a:chExt cx="4179151" cy="91276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79149" cy="912763"/>
            </a:xfrm>
            <a:custGeom>
              <a:avLst/>
              <a:gdLst/>
              <a:ahLst/>
              <a:cxnLst/>
              <a:rect r="r" b="b" t="t" l="l"/>
              <a:pathLst>
                <a:path h="912763" w="4179149">
                  <a:moveTo>
                    <a:pt x="0" y="0"/>
                  </a:moveTo>
                  <a:lnTo>
                    <a:pt x="4179149" y="0"/>
                  </a:lnTo>
                  <a:lnTo>
                    <a:pt x="4179149" y="912763"/>
                  </a:lnTo>
                  <a:lnTo>
                    <a:pt x="0" y="91276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213" r="0" b="-3921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4179151" cy="988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Patrones demográficos,</a:t>
              </a:r>
            </a:p>
            <a:p>
              <a:pPr algn="ctr">
                <a:lnSpc>
                  <a:spcPts val="2879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tendencias de campaña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519423" y="7485469"/>
            <a:ext cx="3134363" cy="299542"/>
            <a:chOff x="0" y="0"/>
            <a:chExt cx="4179151" cy="3993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79149" cy="399392"/>
            </a:xfrm>
            <a:custGeom>
              <a:avLst/>
              <a:gdLst/>
              <a:ahLst/>
              <a:cxnLst/>
              <a:rect r="r" b="b" t="t" l="l"/>
              <a:pathLst>
                <a:path h="399392" w="4179149">
                  <a:moveTo>
                    <a:pt x="0" y="0"/>
                  </a:moveTo>
                  <a:lnTo>
                    <a:pt x="4179149" y="0"/>
                  </a:lnTo>
                  <a:lnTo>
                    <a:pt x="4179149" y="399392"/>
                  </a:lnTo>
                  <a:lnTo>
                    <a:pt x="0" y="3993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3887" r="0" b="-15388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179151" cy="437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Ángel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366247" y="2553967"/>
            <a:ext cx="3670297" cy="6413506"/>
            <a:chOff x="0" y="0"/>
            <a:chExt cx="4893729" cy="855134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8509" y="8509"/>
              <a:ext cx="48768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93818" cy="8551418"/>
            </a:xfrm>
            <a:custGeom>
              <a:avLst/>
              <a:gdLst/>
              <a:ahLst/>
              <a:cxnLst/>
              <a:rect r="r" b="b" t="t" l="l"/>
              <a:pathLst>
                <a:path h="8551418" w="4893818">
                  <a:moveTo>
                    <a:pt x="8509" y="0"/>
                  </a:moveTo>
                  <a:lnTo>
                    <a:pt x="4885309" y="0"/>
                  </a:lnTo>
                  <a:cubicBezTo>
                    <a:pt x="4890008" y="0"/>
                    <a:pt x="4893818" y="3810"/>
                    <a:pt x="4893818" y="8509"/>
                  </a:cubicBezTo>
                  <a:lnTo>
                    <a:pt x="4893818" y="8542909"/>
                  </a:lnTo>
                  <a:cubicBezTo>
                    <a:pt x="4893818" y="8547608"/>
                    <a:pt x="4890008" y="8551418"/>
                    <a:pt x="4885309" y="8551418"/>
                  </a:cubicBezTo>
                  <a:lnTo>
                    <a:pt x="8509" y="8551418"/>
                  </a:lnTo>
                  <a:cubicBezTo>
                    <a:pt x="3810" y="8551418"/>
                    <a:pt x="0" y="8547608"/>
                    <a:pt x="0" y="8542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542909"/>
                  </a:lnTo>
                  <a:lnTo>
                    <a:pt x="8509" y="8542909"/>
                  </a:lnTo>
                  <a:lnTo>
                    <a:pt x="8509" y="8534400"/>
                  </a:lnTo>
                  <a:lnTo>
                    <a:pt x="4885309" y="8534400"/>
                  </a:lnTo>
                  <a:lnTo>
                    <a:pt x="4885309" y="8542909"/>
                  </a:lnTo>
                  <a:lnTo>
                    <a:pt x="4876800" y="8542909"/>
                  </a:lnTo>
                  <a:lnTo>
                    <a:pt x="4876800" y="8509"/>
                  </a:lnTo>
                  <a:lnTo>
                    <a:pt x="4885309" y="8509"/>
                  </a:lnTo>
                  <a:lnTo>
                    <a:pt x="4885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359903" y="3147060"/>
            <a:ext cx="3683003" cy="838200"/>
            <a:chOff x="0" y="0"/>
            <a:chExt cx="4910671" cy="1117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10667" cy="1117603"/>
            </a:xfrm>
            <a:custGeom>
              <a:avLst/>
              <a:gdLst/>
              <a:ahLst/>
              <a:cxnLst/>
              <a:rect r="r" b="b" t="t" l="l"/>
              <a:pathLst>
                <a:path h="1117603" w="4910667">
                  <a:moveTo>
                    <a:pt x="0" y="0"/>
                  </a:moveTo>
                  <a:lnTo>
                    <a:pt x="4910667" y="0"/>
                  </a:lnTo>
                  <a:lnTo>
                    <a:pt x="4910667" y="1117603"/>
                  </a:lnTo>
                  <a:lnTo>
                    <a:pt x="0" y="1117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16" r="0" b="-3561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4910671" cy="1127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E2E8F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34214" y="4269743"/>
            <a:ext cx="3134363" cy="787403"/>
            <a:chOff x="0" y="0"/>
            <a:chExt cx="4179151" cy="104987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179149" cy="1049869"/>
            </a:xfrm>
            <a:custGeom>
              <a:avLst/>
              <a:gdLst/>
              <a:ahLst/>
              <a:cxnLst/>
              <a:rect r="r" b="b" t="t" l="l"/>
              <a:pathLst>
                <a:path h="1049869" w="4179149">
                  <a:moveTo>
                    <a:pt x="0" y="0"/>
                  </a:moveTo>
                  <a:lnTo>
                    <a:pt x="4179149" y="0"/>
                  </a:lnTo>
                  <a:lnTo>
                    <a:pt x="4179149" y="1049869"/>
                  </a:lnTo>
                  <a:lnTo>
                    <a:pt x="0" y="10498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562" r="0" b="-2756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4179151" cy="1059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Modelado predictivo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634214" y="5647030"/>
            <a:ext cx="3134363" cy="684571"/>
            <a:chOff x="0" y="0"/>
            <a:chExt cx="4179151" cy="91276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179149" cy="912763"/>
            </a:xfrm>
            <a:custGeom>
              <a:avLst/>
              <a:gdLst/>
              <a:ahLst/>
              <a:cxnLst/>
              <a:rect r="r" b="b" t="t" l="l"/>
              <a:pathLst>
                <a:path h="912763" w="4179149">
                  <a:moveTo>
                    <a:pt x="0" y="0"/>
                  </a:moveTo>
                  <a:lnTo>
                    <a:pt x="4179149" y="0"/>
                  </a:lnTo>
                  <a:lnTo>
                    <a:pt x="4179149" y="912763"/>
                  </a:lnTo>
                  <a:lnTo>
                    <a:pt x="0" y="91276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213" r="0" b="-3921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76200"/>
              <a:ext cx="4179151" cy="988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Regresión logística, XGBoost</a:t>
              </a:r>
            </a:p>
            <a:p>
              <a:pPr algn="ctr">
                <a:lnSpc>
                  <a:spcPts val="2879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 evaluación de modelos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634214" y="7485469"/>
            <a:ext cx="3134363" cy="299542"/>
            <a:chOff x="0" y="0"/>
            <a:chExt cx="4179151" cy="39939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179149" cy="399392"/>
            </a:xfrm>
            <a:custGeom>
              <a:avLst/>
              <a:gdLst/>
              <a:ahLst/>
              <a:cxnLst/>
              <a:rect r="r" b="b" t="t" l="l"/>
              <a:pathLst>
                <a:path h="399392" w="4179149">
                  <a:moveTo>
                    <a:pt x="0" y="0"/>
                  </a:moveTo>
                  <a:lnTo>
                    <a:pt x="4179149" y="0"/>
                  </a:lnTo>
                  <a:lnTo>
                    <a:pt x="4179149" y="399392"/>
                  </a:lnTo>
                  <a:lnTo>
                    <a:pt x="0" y="3993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3887" r="0" b="-15388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179151" cy="437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Marc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481047" y="2553967"/>
            <a:ext cx="3670297" cy="6413506"/>
            <a:chOff x="0" y="0"/>
            <a:chExt cx="4893729" cy="855134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8509" y="8509"/>
              <a:ext cx="48768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893818" cy="8551418"/>
            </a:xfrm>
            <a:custGeom>
              <a:avLst/>
              <a:gdLst/>
              <a:ahLst/>
              <a:cxnLst/>
              <a:rect r="r" b="b" t="t" l="l"/>
              <a:pathLst>
                <a:path h="8551418" w="4893818">
                  <a:moveTo>
                    <a:pt x="8509" y="0"/>
                  </a:moveTo>
                  <a:lnTo>
                    <a:pt x="4885309" y="0"/>
                  </a:lnTo>
                  <a:cubicBezTo>
                    <a:pt x="4890008" y="0"/>
                    <a:pt x="4893818" y="3810"/>
                    <a:pt x="4893818" y="8509"/>
                  </a:cubicBezTo>
                  <a:lnTo>
                    <a:pt x="4893818" y="8542909"/>
                  </a:lnTo>
                  <a:cubicBezTo>
                    <a:pt x="4893818" y="8547608"/>
                    <a:pt x="4890008" y="8551418"/>
                    <a:pt x="4885309" y="8551418"/>
                  </a:cubicBezTo>
                  <a:lnTo>
                    <a:pt x="8509" y="8551418"/>
                  </a:lnTo>
                  <a:cubicBezTo>
                    <a:pt x="3810" y="8551418"/>
                    <a:pt x="0" y="8547608"/>
                    <a:pt x="0" y="8542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542909"/>
                  </a:lnTo>
                  <a:lnTo>
                    <a:pt x="8509" y="8542909"/>
                  </a:lnTo>
                  <a:lnTo>
                    <a:pt x="8509" y="8534400"/>
                  </a:lnTo>
                  <a:lnTo>
                    <a:pt x="4885309" y="8534400"/>
                  </a:lnTo>
                  <a:lnTo>
                    <a:pt x="4885309" y="8542909"/>
                  </a:lnTo>
                  <a:lnTo>
                    <a:pt x="4876800" y="8542909"/>
                  </a:lnTo>
                  <a:lnTo>
                    <a:pt x="4876800" y="8509"/>
                  </a:lnTo>
                  <a:lnTo>
                    <a:pt x="4885309" y="8509"/>
                  </a:lnTo>
                  <a:lnTo>
                    <a:pt x="4885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474703" y="3147060"/>
            <a:ext cx="3683003" cy="838200"/>
            <a:chOff x="0" y="0"/>
            <a:chExt cx="4910671" cy="1117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910667" cy="1117603"/>
            </a:xfrm>
            <a:custGeom>
              <a:avLst/>
              <a:gdLst/>
              <a:ahLst/>
              <a:cxnLst/>
              <a:rect r="r" b="b" t="t" l="l"/>
              <a:pathLst>
                <a:path h="1117603" w="4910667">
                  <a:moveTo>
                    <a:pt x="0" y="0"/>
                  </a:moveTo>
                  <a:lnTo>
                    <a:pt x="4910667" y="0"/>
                  </a:lnTo>
                  <a:lnTo>
                    <a:pt x="4910667" y="1117603"/>
                  </a:lnTo>
                  <a:lnTo>
                    <a:pt x="0" y="1117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16" r="0" b="-3561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4910671" cy="1127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E2E8F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749014" y="4460243"/>
            <a:ext cx="3134363" cy="406403"/>
            <a:chOff x="0" y="0"/>
            <a:chExt cx="4179151" cy="54187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179149" cy="541869"/>
            </a:xfrm>
            <a:custGeom>
              <a:avLst/>
              <a:gdLst/>
              <a:ahLst/>
              <a:cxnLst/>
              <a:rect r="r" b="b" t="t" l="l"/>
              <a:pathLst>
                <a:path h="541869" w="4179149">
                  <a:moveTo>
                    <a:pt x="0" y="0"/>
                  </a:moveTo>
                  <a:lnTo>
                    <a:pt x="4179149" y="0"/>
                  </a:lnTo>
                  <a:lnTo>
                    <a:pt x="4179149" y="541869"/>
                  </a:lnTo>
                  <a:lnTo>
                    <a:pt x="0" y="5418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277" r="0" b="-10027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4179151" cy="551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Conclusiones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749014" y="5454520"/>
            <a:ext cx="3134363" cy="1069600"/>
            <a:chOff x="0" y="0"/>
            <a:chExt cx="4179151" cy="142613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179149" cy="1426133"/>
            </a:xfrm>
            <a:custGeom>
              <a:avLst/>
              <a:gdLst/>
              <a:ahLst/>
              <a:cxnLst/>
              <a:rect r="r" b="b" t="t" l="l"/>
              <a:pathLst>
                <a:path h="1426133" w="4179149">
                  <a:moveTo>
                    <a:pt x="0" y="0"/>
                  </a:moveTo>
                  <a:lnTo>
                    <a:pt x="4179149" y="0"/>
                  </a:lnTo>
                  <a:lnTo>
                    <a:pt x="4179149" y="1426133"/>
                  </a:lnTo>
                  <a:lnTo>
                    <a:pt x="0" y="14261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99" r="0" b="-709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76200"/>
              <a:ext cx="4179151" cy="15023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Recomendaciones estratégicas</a:t>
              </a:r>
            </a:p>
            <a:p>
              <a:pPr algn="ctr">
                <a:lnSpc>
                  <a:spcPts val="2879"/>
                </a:lnSpc>
              </a:pPr>
              <a:r>
                <a:rPr lang="en-US" sz="20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 líneas futuras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749014" y="7485469"/>
            <a:ext cx="3134363" cy="299542"/>
            <a:chOff x="0" y="0"/>
            <a:chExt cx="4179151" cy="39939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179149" cy="399392"/>
            </a:xfrm>
            <a:custGeom>
              <a:avLst/>
              <a:gdLst/>
              <a:ahLst/>
              <a:cxnLst/>
              <a:rect r="r" b="b" t="t" l="l"/>
              <a:pathLst>
                <a:path h="399392" w="4179149">
                  <a:moveTo>
                    <a:pt x="0" y="0"/>
                  </a:moveTo>
                  <a:lnTo>
                    <a:pt x="4179149" y="0"/>
                  </a:lnTo>
                  <a:lnTo>
                    <a:pt x="4179149" y="399392"/>
                  </a:lnTo>
                  <a:lnTo>
                    <a:pt x="0" y="3993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3887" r="0" b="-15388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4179151" cy="437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Ricardo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0334" y="810349"/>
            <a:ext cx="14655803" cy="299542"/>
            <a:chOff x="0" y="0"/>
            <a:chExt cx="19541071" cy="399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41069" cy="399392"/>
            </a:xfrm>
            <a:custGeom>
              <a:avLst/>
              <a:gdLst/>
              <a:ahLst/>
              <a:cxnLst/>
              <a:rect r="r" b="b" t="t" l="l"/>
              <a:pathLst>
                <a:path h="399392" w="19541069">
                  <a:moveTo>
                    <a:pt x="0" y="0"/>
                  </a:moveTo>
                  <a:lnTo>
                    <a:pt x="19541069" y="0"/>
                  </a:lnTo>
                  <a:lnTo>
                    <a:pt x="19541069" y="399392"/>
                  </a:lnTo>
                  <a:lnTo>
                    <a:pt x="0" y="3993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3345" r="0" b="-90334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541071" cy="437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CONTEXTO Y DATOS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0334" y="1435103"/>
            <a:ext cx="14655803" cy="787403"/>
            <a:chOff x="0" y="0"/>
            <a:chExt cx="19541071" cy="10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41069" cy="1049869"/>
            </a:xfrm>
            <a:custGeom>
              <a:avLst/>
              <a:gdLst/>
              <a:ahLst/>
              <a:cxnLst/>
              <a:rect r="r" b="b" t="t" l="l"/>
              <a:pathLst>
                <a:path h="1049869" w="19541069">
                  <a:moveTo>
                    <a:pt x="0" y="0"/>
                  </a:moveTo>
                  <a:lnTo>
                    <a:pt x="19541069" y="0"/>
                  </a:lnTo>
                  <a:lnTo>
                    <a:pt x="19541069" y="1049869"/>
                  </a:lnTo>
                  <a:lnTo>
                    <a:pt x="0" y="10498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2672" r="0" b="-3126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541071" cy="1059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2761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El problema de negocio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87494" y="2633339"/>
            <a:ext cx="8529323" cy="4138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6"/>
              </a:lnSpc>
            </a:pPr>
            <a:r>
              <a:rPr lang="en-US" sz="26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Un banco portugués lanza campañas de telemarketing para captar depósitos a plazo fijo.</a:t>
            </a:r>
          </a:p>
          <a:p>
            <a:pPr algn="l">
              <a:lnSpc>
                <a:spcPts val="4056"/>
              </a:lnSpc>
            </a:pPr>
          </a:p>
          <a:p>
            <a:pPr algn="l">
              <a:lnSpc>
                <a:spcPts val="4056"/>
              </a:lnSpc>
            </a:pPr>
            <a:r>
              <a:rPr lang="en-US" sz="2600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 cada 100 llamadas, solo 11 terminan en contratación. El 89% del esfuerzo comercial no produce retorno.</a:t>
            </a:r>
          </a:p>
          <a:p>
            <a:pPr algn="l">
              <a:lnSpc>
                <a:spcPts val="4056"/>
              </a:lnSpc>
            </a:pPr>
          </a:p>
          <a:p>
            <a:pPr algn="l">
              <a:lnSpc>
                <a:spcPts val="4056"/>
              </a:lnSpc>
            </a:pPr>
            <a:r>
              <a:rPr lang="en-US" sz="26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La pregunta clave: ¿podemos identificar a quién merece la pena llamar?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325854" y="2730494"/>
            <a:ext cx="5877563" cy="5146043"/>
            <a:chOff x="0" y="0"/>
            <a:chExt cx="7836751" cy="68613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7802881" cy="6827520"/>
            </a:xfrm>
            <a:custGeom>
              <a:avLst/>
              <a:gdLst/>
              <a:ahLst/>
              <a:cxnLst/>
              <a:rect r="r" b="b" t="t" l="l"/>
              <a:pathLst>
                <a:path h="6827520" w="7802881">
                  <a:moveTo>
                    <a:pt x="0" y="0"/>
                  </a:moveTo>
                  <a:lnTo>
                    <a:pt x="7802881" y="0"/>
                  </a:lnTo>
                  <a:lnTo>
                    <a:pt x="7802881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611863" y="3096263"/>
            <a:ext cx="939803" cy="939803"/>
            <a:chOff x="0" y="0"/>
            <a:chExt cx="1253071" cy="1253071"/>
          </a:xfrm>
        </p:grpSpPr>
        <p:sp>
          <p:nvSpPr>
            <p:cNvPr name="Freeform 12" id="12" descr="Image 0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0"/>
                  </a:moveTo>
                  <a:lnTo>
                    <a:pt x="1253109" y="0"/>
                  </a:lnTo>
                  <a:lnTo>
                    <a:pt x="1253109" y="1253109"/>
                  </a:lnTo>
                  <a:lnTo>
                    <a:pt x="0" y="1253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325854" y="4224014"/>
            <a:ext cx="5877563" cy="1244603"/>
            <a:chOff x="0" y="0"/>
            <a:chExt cx="7836751" cy="16594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36750" cy="1659469"/>
            </a:xfrm>
            <a:custGeom>
              <a:avLst/>
              <a:gdLst/>
              <a:ahLst/>
              <a:cxnLst/>
              <a:rect r="r" b="b" t="t" l="l"/>
              <a:pathLst>
                <a:path h="1659469" w="7836750">
                  <a:moveTo>
                    <a:pt x="0" y="0"/>
                  </a:moveTo>
                  <a:lnTo>
                    <a:pt x="7836750" y="0"/>
                  </a:lnTo>
                  <a:lnTo>
                    <a:pt x="7836750" y="1659469"/>
                  </a:lnTo>
                  <a:lnTo>
                    <a:pt x="0" y="16594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016" r="0" b="-4201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7836751" cy="1668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080"/>
                </a:lnSpc>
              </a:pPr>
              <a:r>
                <a:rPr lang="en-US" sz="8400" b="true">
                  <a:solidFill>
                    <a:srgbClr val="3B82F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11,3%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325854" y="5636876"/>
            <a:ext cx="5877563" cy="339128"/>
            <a:chOff x="0" y="0"/>
            <a:chExt cx="7836751" cy="4521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836750" cy="452176"/>
            </a:xfrm>
            <a:custGeom>
              <a:avLst/>
              <a:gdLst/>
              <a:ahLst/>
              <a:cxnLst/>
              <a:rect r="r" b="b" t="t" l="l"/>
              <a:pathLst>
                <a:path h="452176" w="7836750">
                  <a:moveTo>
                    <a:pt x="0" y="0"/>
                  </a:moveTo>
                  <a:lnTo>
                    <a:pt x="7836750" y="0"/>
                  </a:lnTo>
                  <a:lnTo>
                    <a:pt x="7836750" y="452176"/>
                  </a:lnTo>
                  <a:lnTo>
                    <a:pt x="0" y="4521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699" r="0" b="-28769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836751" cy="4902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tasa de conversión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325854" y="6296749"/>
            <a:ext cx="5877563" cy="475031"/>
            <a:chOff x="0" y="0"/>
            <a:chExt cx="7836751" cy="63337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836750" cy="633377"/>
            </a:xfrm>
            <a:custGeom>
              <a:avLst/>
              <a:gdLst/>
              <a:ahLst/>
              <a:cxnLst/>
              <a:rect r="r" b="b" t="t" l="l"/>
              <a:pathLst>
                <a:path h="633377" w="7836750">
                  <a:moveTo>
                    <a:pt x="0" y="0"/>
                  </a:moveTo>
                  <a:lnTo>
                    <a:pt x="7836750" y="0"/>
                  </a:lnTo>
                  <a:lnTo>
                    <a:pt x="7836750" y="633377"/>
                  </a:lnTo>
                  <a:lnTo>
                    <a:pt x="0" y="6333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559" r="0" b="-17261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836751" cy="6714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4.639 sí  vs  36.537 no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50334" y="8308343"/>
            <a:ext cx="15753083" cy="1305563"/>
            <a:chOff x="0" y="0"/>
            <a:chExt cx="21004111" cy="17407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20970239" cy="1706880"/>
            </a:xfrm>
            <a:custGeom>
              <a:avLst/>
              <a:gdLst/>
              <a:ahLst/>
              <a:cxnLst/>
              <a:rect r="r" b="b" t="t" l="l"/>
              <a:pathLst>
                <a:path h="17068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41774" y="8722709"/>
            <a:ext cx="15570203" cy="476816"/>
            <a:chOff x="0" y="0"/>
            <a:chExt cx="20760271" cy="63575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760272" cy="635760"/>
            </a:xfrm>
            <a:custGeom>
              <a:avLst/>
              <a:gdLst/>
              <a:ahLst/>
              <a:cxnLst/>
              <a:rect r="r" b="b" t="t" l="l"/>
              <a:pathLst>
                <a:path h="635760" w="20760272">
                  <a:moveTo>
                    <a:pt x="0" y="0"/>
                  </a:moveTo>
                  <a:lnTo>
                    <a:pt x="20760272" y="0"/>
                  </a:lnTo>
                  <a:lnTo>
                    <a:pt x="20760272" y="635760"/>
                  </a:lnTo>
                  <a:lnTo>
                    <a:pt x="0" y="63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6270" r="0" b="-58626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0760271" cy="683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41.176 registros   ·   21 variables   ·   Mayo 2008 – Nov 2010   ·   UCI Bank Marketing Dataset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0334" y="810349"/>
            <a:ext cx="14655803" cy="299542"/>
            <a:chOff x="0" y="0"/>
            <a:chExt cx="19541071" cy="399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41069" cy="399392"/>
            </a:xfrm>
            <a:custGeom>
              <a:avLst/>
              <a:gdLst/>
              <a:ahLst/>
              <a:cxnLst/>
              <a:rect r="r" b="b" t="t" l="l"/>
              <a:pathLst>
                <a:path h="399392" w="19541069">
                  <a:moveTo>
                    <a:pt x="0" y="0"/>
                  </a:moveTo>
                  <a:lnTo>
                    <a:pt x="19541069" y="0"/>
                  </a:lnTo>
                  <a:lnTo>
                    <a:pt x="19541069" y="399392"/>
                  </a:lnTo>
                  <a:lnTo>
                    <a:pt x="0" y="3993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3345" r="0" b="-90334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541071" cy="437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CONTEXTO Y DATOS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0334" y="1435103"/>
            <a:ext cx="14655803" cy="787403"/>
            <a:chOff x="0" y="0"/>
            <a:chExt cx="19541071" cy="10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41069" cy="1049869"/>
            </a:xfrm>
            <a:custGeom>
              <a:avLst/>
              <a:gdLst/>
              <a:ahLst/>
              <a:cxnLst/>
              <a:rect r="r" b="b" t="t" l="l"/>
              <a:pathLst>
                <a:path h="1049869" w="19541069">
                  <a:moveTo>
                    <a:pt x="0" y="0"/>
                  </a:moveTo>
                  <a:lnTo>
                    <a:pt x="19541069" y="0"/>
                  </a:lnTo>
                  <a:lnTo>
                    <a:pt x="19541069" y="1049869"/>
                  </a:lnTo>
                  <a:lnTo>
                    <a:pt x="0" y="10498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2672" r="0" b="-3126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541071" cy="1059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E2761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Anatomía del dataset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56687" y="2736847"/>
            <a:ext cx="6962146" cy="2755897"/>
            <a:chOff x="0" y="0"/>
            <a:chExt cx="9282862" cy="36745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509" y="8509"/>
              <a:ext cx="9265919" cy="3657600"/>
            </a:xfrm>
            <a:custGeom>
              <a:avLst/>
              <a:gdLst/>
              <a:ahLst/>
              <a:cxnLst/>
              <a:rect r="r" b="b" t="t" l="l"/>
              <a:pathLst>
                <a:path h="3657600" w="9265919">
                  <a:moveTo>
                    <a:pt x="0" y="0"/>
                  </a:moveTo>
                  <a:lnTo>
                    <a:pt x="9265919" y="0"/>
                  </a:lnTo>
                  <a:lnTo>
                    <a:pt x="9265919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82938" cy="3674618"/>
            </a:xfrm>
            <a:custGeom>
              <a:avLst/>
              <a:gdLst/>
              <a:ahLst/>
              <a:cxnLst/>
              <a:rect r="r" b="b" t="t" l="l"/>
              <a:pathLst>
                <a:path h="3674618" w="9282938">
                  <a:moveTo>
                    <a:pt x="8509" y="0"/>
                  </a:moveTo>
                  <a:lnTo>
                    <a:pt x="9274428" y="0"/>
                  </a:lnTo>
                  <a:cubicBezTo>
                    <a:pt x="9279127" y="0"/>
                    <a:pt x="9282938" y="3810"/>
                    <a:pt x="9282938" y="8509"/>
                  </a:cubicBezTo>
                  <a:lnTo>
                    <a:pt x="9282938" y="3666109"/>
                  </a:lnTo>
                  <a:cubicBezTo>
                    <a:pt x="9282938" y="3670808"/>
                    <a:pt x="9279127" y="3674618"/>
                    <a:pt x="9274428" y="3674618"/>
                  </a:cubicBezTo>
                  <a:lnTo>
                    <a:pt x="8509" y="3674618"/>
                  </a:lnTo>
                  <a:cubicBezTo>
                    <a:pt x="3810" y="3674618"/>
                    <a:pt x="0" y="3670808"/>
                    <a:pt x="0" y="3666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666109"/>
                  </a:lnTo>
                  <a:lnTo>
                    <a:pt x="8509" y="3666109"/>
                  </a:lnTo>
                  <a:lnTo>
                    <a:pt x="8509" y="3657600"/>
                  </a:lnTo>
                  <a:lnTo>
                    <a:pt x="9274428" y="3657600"/>
                  </a:lnTo>
                  <a:lnTo>
                    <a:pt x="9274428" y="3666109"/>
                  </a:lnTo>
                  <a:lnTo>
                    <a:pt x="9265920" y="3666109"/>
                  </a:lnTo>
                  <a:lnTo>
                    <a:pt x="9265920" y="8509"/>
                  </a:lnTo>
                  <a:lnTo>
                    <a:pt x="9274428" y="8509"/>
                  </a:lnTo>
                  <a:lnTo>
                    <a:pt x="92744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50334" y="2730503"/>
            <a:ext cx="135131" cy="2768603"/>
            <a:chOff x="0" y="0"/>
            <a:chExt cx="180175" cy="36914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46304" cy="3657600"/>
            </a:xfrm>
            <a:custGeom>
              <a:avLst/>
              <a:gdLst/>
              <a:ahLst/>
              <a:cxnLst/>
              <a:rect r="r" b="b" t="t" l="l"/>
              <a:pathLst>
                <a:path h="3657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907534" y="3096263"/>
            <a:ext cx="756923" cy="756923"/>
            <a:chOff x="0" y="0"/>
            <a:chExt cx="1009231" cy="1009231"/>
          </a:xfrm>
        </p:grpSpPr>
        <p:sp>
          <p:nvSpPr>
            <p:cNvPr name="Freeform 14" id="14" descr="Image 0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0"/>
                  </a:moveTo>
                  <a:lnTo>
                    <a:pt x="1009269" y="0"/>
                  </a:lnTo>
                  <a:lnTo>
                    <a:pt x="1009269" y="1009269"/>
                  </a:lnTo>
                  <a:lnTo>
                    <a:pt x="0" y="10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3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913374" y="3225803"/>
            <a:ext cx="5146043" cy="406403"/>
            <a:chOff x="0" y="0"/>
            <a:chExt cx="6861391" cy="5418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61390" cy="541869"/>
            </a:xfrm>
            <a:custGeom>
              <a:avLst/>
              <a:gdLst/>
              <a:ahLst/>
              <a:cxnLst/>
              <a:rect r="r" b="b" t="t" l="l"/>
              <a:pathLst>
                <a:path h="541869" w="6861390">
                  <a:moveTo>
                    <a:pt x="0" y="0"/>
                  </a:moveTo>
                  <a:lnTo>
                    <a:pt x="6861390" y="0"/>
                  </a:lnTo>
                  <a:lnTo>
                    <a:pt x="6861390" y="541869"/>
                  </a:lnTo>
                  <a:lnTo>
                    <a:pt x="0" y="5418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728" r="0" b="-19672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6861391" cy="551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761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Perfil del cliente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913374" y="4173931"/>
            <a:ext cx="5146043" cy="704698"/>
            <a:chOff x="0" y="0"/>
            <a:chExt cx="6861391" cy="9395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61390" cy="939600"/>
            </a:xfrm>
            <a:custGeom>
              <a:avLst/>
              <a:gdLst/>
              <a:ahLst/>
              <a:cxnLst/>
              <a:rect r="r" b="b" t="t" l="l"/>
              <a:pathLst>
                <a:path h="939600" w="6861390">
                  <a:moveTo>
                    <a:pt x="0" y="0"/>
                  </a:moveTo>
                  <a:lnTo>
                    <a:pt x="6861390" y="0"/>
                  </a:lnTo>
                  <a:lnTo>
                    <a:pt x="6861390" y="939600"/>
                  </a:lnTo>
                  <a:lnTo>
                    <a:pt x="0" y="93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288" r="0" b="-9228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23825"/>
              <a:ext cx="6861391" cy="1063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2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Edad, trabajo, educación,</a:t>
              </a:r>
            </a:p>
            <a:p>
              <a:pPr algn="l">
                <a:lnSpc>
                  <a:spcPts val="3432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estado civil, créditos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20527" y="2736847"/>
            <a:ext cx="6962146" cy="2755897"/>
            <a:chOff x="0" y="0"/>
            <a:chExt cx="9282862" cy="367452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8509" y="8509"/>
              <a:ext cx="9265919" cy="3657600"/>
            </a:xfrm>
            <a:custGeom>
              <a:avLst/>
              <a:gdLst/>
              <a:ahLst/>
              <a:cxnLst/>
              <a:rect r="r" b="b" t="t" l="l"/>
              <a:pathLst>
                <a:path h="3657600" w="9265919">
                  <a:moveTo>
                    <a:pt x="0" y="0"/>
                  </a:moveTo>
                  <a:lnTo>
                    <a:pt x="9265919" y="0"/>
                  </a:lnTo>
                  <a:lnTo>
                    <a:pt x="9265919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282938" cy="3674618"/>
            </a:xfrm>
            <a:custGeom>
              <a:avLst/>
              <a:gdLst/>
              <a:ahLst/>
              <a:cxnLst/>
              <a:rect r="r" b="b" t="t" l="l"/>
              <a:pathLst>
                <a:path h="3674618" w="9282938">
                  <a:moveTo>
                    <a:pt x="8509" y="0"/>
                  </a:moveTo>
                  <a:lnTo>
                    <a:pt x="9274428" y="0"/>
                  </a:lnTo>
                  <a:cubicBezTo>
                    <a:pt x="9279127" y="0"/>
                    <a:pt x="9282938" y="3810"/>
                    <a:pt x="9282938" y="8509"/>
                  </a:cubicBezTo>
                  <a:lnTo>
                    <a:pt x="9282938" y="3666109"/>
                  </a:lnTo>
                  <a:cubicBezTo>
                    <a:pt x="9282938" y="3670808"/>
                    <a:pt x="9279127" y="3674618"/>
                    <a:pt x="9274428" y="3674618"/>
                  </a:cubicBezTo>
                  <a:lnTo>
                    <a:pt x="8509" y="3674618"/>
                  </a:lnTo>
                  <a:cubicBezTo>
                    <a:pt x="3810" y="3674618"/>
                    <a:pt x="0" y="3670808"/>
                    <a:pt x="0" y="3666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666109"/>
                  </a:lnTo>
                  <a:lnTo>
                    <a:pt x="8509" y="3666109"/>
                  </a:lnTo>
                  <a:lnTo>
                    <a:pt x="8509" y="3657600"/>
                  </a:lnTo>
                  <a:lnTo>
                    <a:pt x="9274428" y="3657600"/>
                  </a:lnTo>
                  <a:lnTo>
                    <a:pt x="9274428" y="3666109"/>
                  </a:lnTo>
                  <a:lnTo>
                    <a:pt x="9265920" y="3666109"/>
                  </a:lnTo>
                  <a:lnTo>
                    <a:pt x="9265920" y="8509"/>
                  </a:lnTo>
                  <a:lnTo>
                    <a:pt x="9274428" y="8509"/>
                  </a:lnTo>
                  <a:lnTo>
                    <a:pt x="92744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314183" y="2730503"/>
            <a:ext cx="135131" cy="2768603"/>
            <a:chOff x="0" y="0"/>
            <a:chExt cx="180175" cy="36914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46304" cy="3657600"/>
            </a:xfrm>
            <a:custGeom>
              <a:avLst/>
              <a:gdLst/>
              <a:ahLst/>
              <a:cxnLst/>
              <a:rect r="r" b="b" t="t" l="l"/>
              <a:pathLst>
                <a:path h="3657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771383" y="3096263"/>
            <a:ext cx="756923" cy="756923"/>
            <a:chOff x="0" y="0"/>
            <a:chExt cx="1009231" cy="1009231"/>
          </a:xfrm>
        </p:grpSpPr>
        <p:sp>
          <p:nvSpPr>
            <p:cNvPr name="Freeform 27" id="27" descr="Image 1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0"/>
                  </a:moveTo>
                  <a:lnTo>
                    <a:pt x="1009269" y="0"/>
                  </a:lnTo>
                  <a:lnTo>
                    <a:pt x="1009269" y="1009269"/>
                  </a:lnTo>
                  <a:lnTo>
                    <a:pt x="0" y="10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777214" y="3225803"/>
            <a:ext cx="5146043" cy="406403"/>
            <a:chOff x="0" y="0"/>
            <a:chExt cx="6861391" cy="5418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61390" cy="541869"/>
            </a:xfrm>
            <a:custGeom>
              <a:avLst/>
              <a:gdLst/>
              <a:ahLst/>
              <a:cxnLst/>
              <a:rect r="r" b="b" t="t" l="l"/>
              <a:pathLst>
                <a:path h="541869" w="6861390">
                  <a:moveTo>
                    <a:pt x="0" y="0"/>
                  </a:moveTo>
                  <a:lnTo>
                    <a:pt x="6861390" y="0"/>
                  </a:lnTo>
                  <a:lnTo>
                    <a:pt x="6861390" y="541869"/>
                  </a:lnTo>
                  <a:lnTo>
                    <a:pt x="0" y="5418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728" r="0" b="-19672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6861391" cy="551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761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Campaña actual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777214" y="4173931"/>
            <a:ext cx="5146043" cy="704698"/>
            <a:chOff x="0" y="0"/>
            <a:chExt cx="6861391" cy="9395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61390" cy="939600"/>
            </a:xfrm>
            <a:custGeom>
              <a:avLst/>
              <a:gdLst/>
              <a:ahLst/>
              <a:cxnLst/>
              <a:rect r="r" b="b" t="t" l="l"/>
              <a:pathLst>
                <a:path h="939600" w="6861390">
                  <a:moveTo>
                    <a:pt x="0" y="0"/>
                  </a:moveTo>
                  <a:lnTo>
                    <a:pt x="6861390" y="0"/>
                  </a:lnTo>
                  <a:lnTo>
                    <a:pt x="6861390" y="939600"/>
                  </a:lnTo>
                  <a:lnTo>
                    <a:pt x="0" y="93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288" r="0" b="-9228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23825"/>
              <a:ext cx="6861391" cy="1063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2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Tipo contacto, mes, día,</a:t>
              </a:r>
            </a:p>
            <a:p>
              <a:pPr algn="l">
                <a:lnSpc>
                  <a:spcPts val="3432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duración, nº contactos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56687" y="6028687"/>
            <a:ext cx="6962146" cy="2755906"/>
            <a:chOff x="0" y="0"/>
            <a:chExt cx="9282862" cy="367454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8509" y="8509"/>
              <a:ext cx="9265919" cy="3657600"/>
            </a:xfrm>
            <a:custGeom>
              <a:avLst/>
              <a:gdLst/>
              <a:ahLst/>
              <a:cxnLst/>
              <a:rect r="r" b="b" t="t" l="l"/>
              <a:pathLst>
                <a:path h="3657600" w="9265919">
                  <a:moveTo>
                    <a:pt x="0" y="0"/>
                  </a:moveTo>
                  <a:lnTo>
                    <a:pt x="9265919" y="0"/>
                  </a:lnTo>
                  <a:lnTo>
                    <a:pt x="9265919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282938" cy="3674618"/>
            </a:xfrm>
            <a:custGeom>
              <a:avLst/>
              <a:gdLst/>
              <a:ahLst/>
              <a:cxnLst/>
              <a:rect r="r" b="b" t="t" l="l"/>
              <a:pathLst>
                <a:path h="3674618" w="9282938">
                  <a:moveTo>
                    <a:pt x="8509" y="0"/>
                  </a:moveTo>
                  <a:lnTo>
                    <a:pt x="9274428" y="0"/>
                  </a:lnTo>
                  <a:cubicBezTo>
                    <a:pt x="9279127" y="0"/>
                    <a:pt x="9282938" y="3810"/>
                    <a:pt x="9282938" y="8509"/>
                  </a:cubicBezTo>
                  <a:lnTo>
                    <a:pt x="9282938" y="3666109"/>
                  </a:lnTo>
                  <a:cubicBezTo>
                    <a:pt x="9282938" y="3670808"/>
                    <a:pt x="9279127" y="3674618"/>
                    <a:pt x="9274428" y="3674618"/>
                  </a:cubicBezTo>
                  <a:lnTo>
                    <a:pt x="8509" y="3674618"/>
                  </a:lnTo>
                  <a:cubicBezTo>
                    <a:pt x="3810" y="3674618"/>
                    <a:pt x="0" y="3670808"/>
                    <a:pt x="0" y="3666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666109"/>
                  </a:lnTo>
                  <a:lnTo>
                    <a:pt x="8509" y="3666109"/>
                  </a:lnTo>
                  <a:lnTo>
                    <a:pt x="8509" y="3657600"/>
                  </a:lnTo>
                  <a:lnTo>
                    <a:pt x="9274428" y="3657600"/>
                  </a:lnTo>
                  <a:lnTo>
                    <a:pt x="9274428" y="3666109"/>
                  </a:lnTo>
                  <a:lnTo>
                    <a:pt x="9265920" y="3666109"/>
                  </a:lnTo>
                  <a:lnTo>
                    <a:pt x="9265920" y="8509"/>
                  </a:lnTo>
                  <a:lnTo>
                    <a:pt x="9274428" y="8509"/>
                  </a:lnTo>
                  <a:lnTo>
                    <a:pt x="92744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50334" y="6022343"/>
            <a:ext cx="135131" cy="2768603"/>
            <a:chOff x="0" y="0"/>
            <a:chExt cx="180175" cy="36914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146304" cy="3657600"/>
            </a:xfrm>
            <a:custGeom>
              <a:avLst/>
              <a:gdLst/>
              <a:ahLst/>
              <a:cxnLst/>
              <a:rect r="r" b="b" t="t" l="l"/>
              <a:pathLst>
                <a:path h="3657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907534" y="6388103"/>
            <a:ext cx="756923" cy="756923"/>
            <a:chOff x="0" y="0"/>
            <a:chExt cx="1009231" cy="1009231"/>
          </a:xfrm>
        </p:grpSpPr>
        <p:sp>
          <p:nvSpPr>
            <p:cNvPr name="Freeform 40" id="40" descr="Image 2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0"/>
                  </a:moveTo>
                  <a:lnTo>
                    <a:pt x="1009269" y="0"/>
                  </a:lnTo>
                  <a:lnTo>
                    <a:pt x="1009269" y="1009269"/>
                  </a:lnTo>
                  <a:lnTo>
                    <a:pt x="0" y="10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913374" y="6517634"/>
            <a:ext cx="5146043" cy="406403"/>
            <a:chOff x="0" y="0"/>
            <a:chExt cx="6861391" cy="5418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61390" cy="541869"/>
            </a:xfrm>
            <a:custGeom>
              <a:avLst/>
              <a:gdLst/>
              <a:ahLst/>
              <a:cxnLst/>
              <a:rect r="r" b="b" t="t" l="l"/>
              <a:pathLst>
                <a:path h="541869" w="6861390">
                  <a:moveTo>
                    <a:pt x="0" y="0"/>
                  </a:moveTo>
                  <a:lnTo>
                    <a:pt x="6861390" y="0"/>
                  </a:lnTo>
                  <a:lnTo>
                    <a:pt x="6861390" y="541869"/>
                  </a:lnTo>
                  <a:lnTo>
                    <a:pt x="0" y="5418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728" r="0" b="-19672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6861391" cy="551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761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Historial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913374" y="7465771"/>
            <a:ext cx="5146043" cy="704698"/>
            <a:chOff x="0" y="0"/>
            <a:chExt cx="6861391" cy="93959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61390" cy="939597"/>
            </a:xfrm>
            <a:custGeom>
              <a:avLst/>
              <a:gdLst/>
              <a:ahLst/>
              <a:cxnLst/>
              <a:rect r="r" b="b" t="t" l="l"/>
              <a:pathLst>
                <a:path h="939597" w="6861390">
                  <a:moveTo>
                    <a:pt x="0" y="0"/>
                  </a:moveTo>
                  <a:lnTo>
                    <a:pt x="6861390" y="0"/>
                  </a:lnTo>
                  <a:lnTo>
                    <a:pt x="6861390" y="939597"/>
                  </a:lnTo>
                  <a:lnTo>
                    <a:pt x="0" y="9395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289" r="0" b="-9228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23825"/>
              <a:ext cx="6861391" cy="1063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2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Contactos previos, resultado</a:t>
              </a:r>
            </a:p>
            <a:p>
              <a:pPr algn="l">
                <a:lnSpc>
                  <a:spcPts val="3432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campañas anteriores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320527" y="6028687"/>
            <a:ext cx="6962146" cy="2755906"/>
            <a:chOff x="0" y="0"/>
            <a:chExt cx="9282862" cy="367454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8509" y="8509"/>
              <a:ext cx="9265919" cy="3657600"/>
            </a:xfrm>
            <a:custGeom>
              <a:avLst/>
              <a:gdLst/>
              <a:ahLst/>
              <a:cxnLst/>
              <a:rect r="r" b="b" t="t" l="l"/>
              <a:pathLst>
                <a:path h="3657600" w="9265919">
                  <a:moveTo>
                    <a:pt x="0" y="0"/>
                  </a:moveTo>
                  <a:lnTo>
                    <a:pt x="9265919" y="0"/>
                  </a:lnTo>
                  <a:lnTo>
                    <a:pt x="9265919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282938" cy="3674618"/>
            </a:xfrm>
            <a:custGeom>
              <a:avLst/>
              <a:gdLst/>
              <a:ahLst/>
              <a:cxnLst/>
              <a:rect r="r" b="b" t="t" l="l"/>
              <a:pathLst>
                <a:path h="3674618" w="9282938">
                  <a:moveTo>
                    <a:pt x="8509" y="0"/>
                  </a:moveTo>
                  <a:lnTo>
                    <a:pt x="9274428" y="0"/>
                  </a:lnTo>
                  <a:cubicBezTo>
                    <a:pt x="9279127" y="0"/>
                    <a:pt x="9282938" y="3810"/>
                    <a:pt x="9282938" y="8509"/>
                  </a:cubicBezTo>
                  <a:lnTo>
                    <a:pt x="9282938" y="3666109"/>
                  </a:lnTo>
                  <a:cubicBezTo>
                    <a:pt x="9282938" y="3670808"/>
                    <a:pt x="9279127" y="3674618"/>
                    <a:pt x="9274428" y="3674618"/>
                  </a:cubicBezTo>
                  <a:lnTo>
                    <a:pt x="8509" y="3674618"/>
                  </a:lnTo>
                  <a:cubicBezTo>
                    <a:pt x="3810" y="3674618"/>
                    <a:pt x="0" y="3670808"/>
                    <a:pt x="0" y="3666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666109"/>
                  </a:lnTo>
                  <a:lnTo>
                    <a:pt x="8509" y="3666109"/>
                  </a:lnTo>
                  <a:lnTo>
                    <a:pt x="8509" y="3657600"/>
                  </a:lnTo>
                  <a:lnTo>
                    <a:pt x="9274428" y="3657600"/>
                  </a:lnTo>
                  <a:lnTo>
                    <a:pt x="9274428" y="3666109"/>
                  </a:lnTo>
                  <a:lnTo>
                    <a:pt x="9265920" y="3666109"/>
                  </a:lnTo>
                  <a:lnTo>
                    <a:pt x="9265920" y="8509"/>
                  </a:lnTo>
                  <a:lnTo>
                    <a:pt x="9274428" y="8509"/>
                  </a:lnTo>
                  <a:lnTo>
                    <a:pt x="92744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314183" y="6022343"/>
            <a:ext cx="135131" cy="2768603"/>
            <a:chOff x="0" y="0"/>
            <a:chExt cx="180175" cy="369147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46304" cy="3657600"/>
            </a:xfrm>
            <a:custGeom>
              <a:avLst/>
              <a:gdLst/>
              <a:ahLst/>
              <a:cxnLst/>
              <a:rect r="r" b="b" t="t" l="l"/>
              <a:pathLst>
                <a:path h="3657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771383" y="6388103"/>
            <a:ext cx="756923" cy="756923"/>
            <a:chOff x="0" y="0"/>
            <a:chExt cx="1009231" cy="1009231"/>
          </a:xfrm>
        </p:grpSpPr>
        <p:sp>
          <p:nvSpPr>
            <p:cNvPr name="Freeform 53" id="53" descr="Image 3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0"/>
                  </a:moveTo>
                  <a:lnTo>
                    <a:pt x="1009269" y="0"/>
                  </a:lnTo>
                  <a:lnTo>
                    <a:pt x="1009269" y="1009269"/>
                  </a:lnTo>
                  <a:lnTo>
                    <a:pt x="0" y="10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777214" y="6517634"/>
            <a:ext cx="5146043" cy="406403"/>
            <a:chOff x="0" y="0"/>
            <a:chExt cx="6861391" cy="54187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861390" cy="541869"/>
            </a:xfrm>
            <a:custGeom>
              <a:avLst/>
              <a:gdLst/>
              <a:ahLst/>
              <a:cxnLst/>
              <a:rect r="r" b="b" t="t" l="l"/>
              <a:pathLst>
                <a:path h="541869" w="6861390">
                  <a:moveTo>
                    <a:pt x="0" y="0"/>
                  </a:moveTo>
                  <a:lnTo>
                    <a:pt x="6861390" y="0"/>
                  </a:lnTo>
                  <a:lnTo>
                    <a:pt x="6861390" y="541869"/>
                  </a:lnTo>
                  <a:lnTo>
                    <a:pt x="0" y="5418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728" r="0" b="-19672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6861391" cy="551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761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Contexto macro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777214" y="7465771"/>
            <a:ext cx="5146043" cy="704698"/>
            <a:chOff x="0" y="0"/>
            <a:chExt cx="6861391" cy="93959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861390" cy="939597"/>
            </a:xfrm>
            <a:custGeom>
              <a:avLst/>
              <a:gdLst/>
              <a:ahLst/>
              <a:cxnLst/>
              <a:rect r="r" b="b" t="t" l="l"/>
              <a:pathLst>
                <a:path h="939597" w="6861390">
                  <a:moveTo>
                    <a:pt x="0" y="0"/>
                  </a:moveTo>
                  <a:lnTo>
                    <a:pt x="6861390" y="0"/>
                  </a:lnTo>
                  <a:lnTo>
                    <a:pt x="6861390" y="939597"/>
                  </a:lnTo>
                  <a:lnTo>
                    <a:pt x="0" y="9395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289" r="0" b="-9228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23825"/>
              <a:ext cx="6861391" cy="10634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2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Euribor, IPC, confianza</a:t>
              </a:r>
            </a:p>
            <a:p>
              <a:pPr algn="l">
                <a:lnSpc>
                  <a:spcPts val="3432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consumidor, tasa empleo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50334" y="9042749"/>
            <a:ext cx="15570203" cy="293942"/>
            <a:chOff x="0" y="0"/>
            <a:chExt cx="20760271" cy="39192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760269" cy="391917"/>
            </a:xfrm>
            <a:custGeom>
              <a:avLst/>
              <a:gdLst/>
              <a:ahLst/>
              <a:cxnLst/>
              <a:rect r="r" b="b" t="t" l="l"/>
              <a:pathLst>
                <a:path h="391917" w="20760269">
                  <a:moveTo>
                    <a:pt x="0" y="0"/>
                  </a:moveTo>
                  <a:lnTo>
                    <a:pt x="20760269" y="0"/>
                  </a:lnTo>
                  <a:lnTo>
                    <a:pt x="20760269" y="391917"/>
                  </a:lnTo>
                  <a:lnTo>
                    <a:pt x="0" y="3919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2142" r="0" b="-98214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20760271" cy="4395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1E293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Variable objetivo:  y  (¿contrató el depósito?)  →  Clasificación binaria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0334" y="810349"/>
            <a:ext cx="14655803" cy="299542"/>
            <a:chOff x="0" y="0"/>
            <a:chExt cx="19541071" cy="399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41069" cy="399392"/>
            </a:xfrm>
            <a:custGeom>
              <a:avLst/>
              <a:gdLst/>
              <a:ahLst/>
              <a:cxnLst/>
              <a:rect r="r" b="b" t="t" l="l"/>
              <a:pathLst>
                <a:path h="399392" w="19541069">
                  <a:moveTo>
                    <a:pt x="0" y="0"/>
                  </a:moveTo>
                  <a:lnTo>
                    <a:pt x="19541069" y="0"/>
                  </a:lnTo>
                  <a:lnTo>
                    <a:pt x="19541069" y="399392"/>
                  </a:lnTo>
                  <a:lnTo>
                    <a:pt x="0" y="3993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3345" r="0" b="-90334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541071" cy="437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CONTEXTO Y DATOS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0334" y="1460497"/>
            <a:ext cx="16484603" cy="736606"/>
            <a:chOff x="0" y="0"/>
            <a:chExt cx="21979471" cy="9821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469" cy="982136"/>
            </a:xfrm>
            <a:custGeom>
              <a:avLst/>
              <a:gdLst/>
              <a:ahLst/>
              <a:cxnLst/>
              <a:rect r="r" b="b" t="t" l="l"/>
              <a:pathLst>
                <a:path h="982136" w="21979469">
                  <a:moveTo>
                    <a:pt x="0" y="0"/>
                  </a:moveTo>
                  <a:lnTo>
                    <a:pt x="21979469" y="0"/>
                  </a:lnTo>
                  <a:lnTo>
                    <a:pt x="21979469" y="982136"/>
                  </a:lnTo>
                  <a:lnTo>
                    <a:pt x="0" y="9821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6060" r="0" b="-3860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979471" cy="991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Portugal 2008–2010: crisis como telón de fondo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56687" y="2645407"/>
            <a:ext cx="15740386" cy="1512322"/>
            <a:chOff x="0" y="0"/>
            <a:chExt cx="20987182" cy="20164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509" y="8509"/>
              <a:ext cx="209702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20970240">
                  <a:moveTo>
                    <a:pt x="0" y="0"/>
                  </a:moveTo>
                  <a:lnTo>
                    <a:pt x="20970240" y="0"/>
                  </a:lnTo>
                  <a:lnTo>
                    <a:pt x="209702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987257" cy="2016506"/>
            </a:xfrm>
            <a:custGeom>
              <a:avLst/>
              <a:gdLst/>
              <a:ahLst/>
              <a:cxnLst/>
              <a:rect r="r" b="b" t="t" l="l"/>
              <a:pathLst>
                <a:path h="2016506" w="20987257">
                  <a:moveTo>
                    <a:pt x="8509" y="0"/>
                  </a:moveTo>
                  <a:lnTo>
                    <a:pt x="20978749" y="0"/>
                  </a:lnTo>
                  <a:cubicBezTo>
                    <a:pt x="20983448" y="0"/>
                    <a:pt x="20987257" y="3810"/>
                    <a:pt x="20987257" y="8509"/>
                  </a:cubicBezTo>
                  <a:lnTo>
                    <a:pt x="20987257" y="2007997"/>
                  </a:lnTo>
                  <a:cubicBezTo>
                    <a:pt x="20987257" y="2012696"/>
                    <a:pt x="20983448" y="2016506"/>
                    <a:pt x="2097874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20978749" y="1999488"/>
                  </a:lnTo>
                  <a:lnTo>
                    <a:pt x="20978749" y="2007997"/>
                  </a:lnTo>
                  <a:lnTo>
                    <a:pt x="20970239" y="2007997"/>
                  </a:lnTo>
                  <a:lnTo>
                    <a:pt x="20970239" y="8509"/>
                  </a:lnTo>
                  <a:lnTo>
                    <a:pt x="20978749" y="8509"/>
                  </a:lnTo>
                  <a:lnTo>
                    <a:pt x="20978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816103" y="3211068"/>
            <a:ext cx="4597403" cy="381000"/>
            <a:chOff x="0" y="0"/>
            <a:chExt cx="6129871" cy="50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29867" cy="508003"/>
            </a:xfrm>
            <a:custGeom>
              <a:avLst/>
              <a:gdLst/>
              <a:ahLst/>
              <a:cxnLst/>
              <a:rect r="r" b="b" t="t" l="l"/>
              <a:pathLst>
                <a:path h="508003" w="6129867">
                  <a:moveTo>
                    <a:pt x="0" y="0"/>
                  </a:moveTo>
                  <a:lnTo>
                    <a:pt x="6129867" y="0"/>
                  </a:lnTo>
                  <a:lnTo>
                    <a:pt x="6129867" y="508003"/>
                  </a:lnTo>
                  <a:lnTo>
                    <a:pt x="0" y="5080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118" r="0" b="-18511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6129871" cy="51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Euribor 3M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388103" y="3147565"/>
            <a:ext cx="4048754" cy="595511"/>
            <a:chOff x="0" y="0"/>
            <a:chExt cx="5398338" cy="7940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98344" cy="794008"/>
            </a:xfrm>
            <a:custGeom>
              <a:avLst/>
              <a:gdLst/>
              <a:ahLst/>
              <a:cxnLst/>
              <a:rect r="r" b="b" t="t" l="l"/>
              <a:pathLst>
                <a:path h="794008" w="5398344">
                  <a:moveTo>
                    <a:pt x="0" y="0"/>
                  </a:moveTo>
                  <a:lnTo>
                    <a:pt x="5398344" y="0"/>
                  </a:lnTo>
                  <a:lnTo>
                    <a:pt x="5398344" y="794008"/>
                  </a:lnTo>
                  <a:lnTo>
                    <a:pt x="0" y="794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822" r="0" b="-751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5398338" cy="794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3B82F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5,05% → 0,63%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594343" y="3254597"/>
            <a:ext cx="6243323" cy="293932"/>
            <a:chOff x="0" y="0"/>
            <a:chExt cx="8324431" cy="3919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324429" cy="391915"/>
            </a:xfrm>
            <a:custGeom>
              <a:avLst/>
              <a:gdLst/>
              <a:ahLst/>
              <a:cxnLst/>
              <a:rect r="r" b="b" t="t" l="l"/>
              <a:pathLst>
                <a:path h="391915" w="8324429">
                  <a:moveTo>
                    <a:pt x="0" y="0"/>
                  </a:moveTo>
                  <a:lnTo>
                    <a:pt x="8324429" y="0"/>
                  </a:lnTo>
                  <a:lnTo>
                    <a:pt x="8324429" y="391915"/>
                  </a:lnTo>
                  <a:lnTo>
                    <a:pt x="0" y="3919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3871" r="0" b="-36386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324431" cy="439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Desplome del coste de financiación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56687" y="4327903"/>
            <a:ext cx="15740386" cy="1512322"/>
            <a:chOff x="0" y="0"/>
            <a:chExt cx="20987182" cy="20164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8509" y="8509"/>
              <a:ext cx="209702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20970240">
                  <a:moveTo>
                    <a:pt x="0" y="0"/>
                  </a:moveTo>
                  <a:lnTo>
                    <a:pt x="20970240" y="0"/>
                  </a:lnTo>
                  <a:lnTo>
                    <a:pt x="209702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987257" cy="2016506"/>
            </a:xfrm>
            <a:custGeom>
              <a:avLst/>
              <a:gdLst/>
              <a:ahLst/>
              <a:cxnLst/>
              <a:rect r="r" b="b" t="t" l="l"/>
              <a:pathLst>
                <a:path h="2016506" w="20987257">
                  <a:moveTo>
                    <a:pt x="8509" y="0"/>
                  </a:moveTo>
                  <a:lnTo>
                    <a:pt x="20978749" y="0"/>
                  </a:lnTo>
                  <a:cubicBezTo>
                    <a:pt x="20983448" y="0"/>
                    <a:pt x="20987257" y="3810"/>
                    <a:pt x="20987257" y="8509"/>
                  </a:cubicBezTo>
                  <a:lnTo>
                    <a:pt x="20987257" y="2007997"/>
                  </a:lnTo>
                  <a:cubicBezTo>
                    <a:pt x="20987257" y="2012696"/>
                    <a:pt x="20983448" y="2016506"/>
                    <a:pt x="2097874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20978749" y="1999488"/>
                  </a:lnTo>
                  <a:lnTo>
                    <a:pt x="20978749" y="2007997"/>
                  </a:lnTo>
                  <a:lnTo>
                    <a:pt x="20970239" y="2007997"/>
                  </a:lnTo>
                  <a:lnTo>
                    <a:pt x="20970239" y="8509"/>
                  </a:lnTo>
                  <a:lnTo>
                    <a:pt x="20978749" y="8509"/>
                  </a:lnTo>
                  <a:lnTo>
                    <a:pt x="20978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816103" y="4893564"/>
            <a:ext cx="4597403" cy="381000"/>
            <a:chOff x="0" y="0"/>
            <a:chExt cx="6129871" cy="508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29867" cy="508003"/>
            </a:xfrm>
            <a:custGeom>
              <a:avLst/>
              <a:gdLst/>
              <a:ahLst/>
              <a:cxnLst/>
              <a:rect r="r" b="b" t="t" l="l"/>
              <a:pathLst>
                <a:path h="508003" w="6129867">
                  <a:moveTo>
                    <a:pt x="0" y="0"/>
                  </a:moveTo>
                  <a:lnTo>
                    <a:pt x="6129867" y="0"/>
                  </a:lnTo>
                  <a:lnTo>
                    <a:pt x="6129867" y="508003"/>
                  </a:lnTo>
                  <a:lnTo>
                    <a:pt x="0" y="5080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118" r="0" b="-18511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6129871" cy="51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Confianza consumidor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88103" y="4830061"/>
            <a:ext cx="4048754" cy="595511"/>
            <a:chOff x="0" y="0"/>
            <a:chExt cx="5398338" cy="79401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98344" cy="794008"/>
            </a:xfrm>
            <a:custGeom>
              <a:avLst/>
              <a:gdLst/>
              <a:ahLst/>
              <a:cxnLst/>
              <a:rect r="r" b="b" t="t" l="l"/>
              <a:pathLst>
                <a:path h="794008" w="5398344">
                  <a:moveTo>
                    <a:pt x="0" y="0"/>
                  </a:moveTo>
                  <a:lnTo>
                    <a:pt x="5398344" y="0"/>
                  </a:lnTo>
                  <a:lnTo>
                    <a:pt x="5398344" y="794008"/>
                  </a:lnTo>
                  <a:lnTo>
                    <a:pt x="0" y="794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822" r="0" b="-7512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398338" cy="794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3B82F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–50,8 a –26,9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594343" y="4937093"/>
            <a:ext cx="6243323" cy="293932"/>
            <a:chOff x="0" y="0"/>
            <a:chExt cx="8324431" cy="39190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324429" cy="391915"/>
            </a:xfrm>
            <a:custGeom>
              <a:avLst/>
              <a:gdLst/>
              <a:ahLst/>
              <a:cxnLst/>
              <a:rect r="r" b="b" t="t" l="l"/>
              <a:pathLst>
                <a:path h="391915" w="8324429">
                  <a:moveTo>
                    <a:pt x="0" y="0"/>
                  </a:moveTo>
                  <a:lnTo>
                    <a:pt x="8324429" y="0"/>
                  </a:lnTo>
                  <a:lnTo>
                    <a:pt x="8324429" y="391915"/>
                  </a:lnTo>
                  <a:lnTo>
                    <a:pt x="0" y="3919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3871" r="0" b="-36386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8324431" cy="439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Mínimo histórico en Q1 2009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56687" y="6010399"/>
            <a:ext cx="15740386" cy="1512322"/>
            <a:chOff x="0" y="0"/>
            <a:chExt cx="20987182" cy="20164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8509" y="8509"/>
              <a:ext cx="209702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20970240">
                  <a:moveTo>
                    <a:pt x="0" y="0"/>
                  </a:moveTo>
                  <a:lnTo>
                    <a:pt x="20970240" y="0"/>
                  </a:lnTo>
                  <a:lnTo>
                    <a:pt x="209702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987257" cy="2016506"/>
            </a:xfrm>
            <a:custGeom>
              <a:avLst/>
              <a:gdLst/>
              <a:ahLst/>
              <a:cxnLst/>
              <a:rect r="r" b="b" t="t" l="l"/>
              <a:pathLst>
                <a:path h="2016506" w="20987257">
                  <a:moveTo>
                    <a:pt x="8509" y="0"/>
                  </a:moveTo>
                  <a:lnTo>
                    <a:pt x="20978749" y="0"/>
                  </a:lnTo>
                  <a:cubicBezTo>
                    <a:pt x="20983448" y="0"/>
                    <a:pt x="20987257" y="3810"/>
                    <a:pt x="20987257" y="8509"/>
                  </a:cubicBezTo>
                  <a:lnTo>
                    <a:pt x="20987257" y="2007997"/>
                  </a:lnTo>
                  <a:cubicBezTo>
                    <a:pt x="20987257" y="2012696"/>
                    <a:pt x="20983448" y="2016506"/>
                    <a:pt x="2097874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20978749" y="1999488"/>
                  </a:lnTo>
                  <a:lnTo>
                    <a:pt x="20978749" y="2007997"/>
                  </a:lnTo>
                  <a:lnTo>
                    <a:pt x="20970239" y="2007997"/>
                  </a:lnTo>
                  <a:lnTo>
                    <a:pt x="20970239" y="8509"/>
                  </a:lnTo>
                  <a:lnTo>
                    <a:pt x="20978749" y="8509"/>
                  </a:lnTo>
                  <a:lnTo>
                    <a:pt x="20978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816103" y="6576060"/>
            <a:ext cx="4597403" cy="381000"/>
            <a:chOff x="0" y="0"/>
            <a:chExt cx="6129871" cy="508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129867" cy="508003"/>
            </a:xfrm>
            <a:custGeom>
              <a:avLst/>
              <a:gdLst/>
              <a:ahLst/>
              <a:cxnLst/>
              <a:rect r="r" b="b" t="t" l="l"/>
              <a:pathLst>
                <a:path h="508003" w="6129867">
                  <a:moveTo>
                    <a:pt x="0" y="0"/>
                  </a:moveTo>
                  <a:lnTo>
                    <a:pt x="6129867" y="0"/>
                  </a:lnTo>
                  <a:lnTo>
                    <a:pt x="6129867" y="508003"/>
                  </a:lnTo>
                  <a:lnTo>
                    <a:pt x="0" y="5080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118" r="0" b="-18511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6129871" cy="51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Tasa de empleo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388103" y="6512557"/>
            <a:ext cx="4048754" cy="595511"/>
            <a:chOff x="0" y="0"/>
            <a:chExt cx="5398338" cy="79401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98344" cy="794008"/>
            </a:xfrm>
            <a:custGeom>
              <a:avLst/>
              <a:gdLst/>
              <a:ahLst/>
              <a:cxnLst/>
              <a:rect r="r" b="b" t="t" l="l"/>
              <a:pathLst>
                <a:path h="794008" w="5398344">
                  <a:moveTo>
                    <a:pt x="0" y="0"/>
                  </a:moveTo>
                  <a:lnTo>
                    <a:pt x="5398344" y="0"/>
                  </a:lnTo>
                  <a:lnTo>
                    <a:pt x="5398344" y="794008"/>
                  </a:lnTo>
                  <a:lnTo>
                    <a:pt x="0" y="794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822" r="0" b="-7512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5398338" cy="794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3B82F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–3,4 a +1,4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594343" y="6619589"/>
            <a:ext cx="6243323" cy="293932"/>
            <a:chOff x="0" y="0"/>
            <a:chExt cx="8324431" cy="39190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324429" cy="391915"/>
            </a:xfrm>
            <a:custGeom>
              <a:avLst/>
              <a:gdLst/>
              <a:ahLst/>
              <a:cxnLst/>
              <a:rect r="r" b="b" t="t" l="l"/>
              <a:pathLst>
                <a:path h="391915" w="8324429">
                  <a:moveTo>
                    <a:pt x="0" y="0"/>
                  </a:moveTo>
                  <a:lnTo>
                    <a:pt x="8324429" y="0"/>
                  </a:lnTo>
                  <a:lnTo>
                    <a:pt x="8324429" y="391915"/>
                  </a:lnTo>
                  <a:lnTo>
                    <a:pt x="0" y="3919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3871" r="0" b="-36386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8324431" cy="439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Caída desde 68,2% a 65,9%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56687" y="7692895"/>
            <a:ext cx="15740386" cy="1512322"/>
            <a:chOff x="0" y="0"/>
            <a:chExt cx="20987182" cy="201643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8509" y="8509"/>
              <a:ext cx="209702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20970240">
                  <a:moveTo>
                    <a:pt x="0" y="0"/>
                  </a:moveTo>
                  <a:lnTo>
                    <a:pt x="20970240" y="0"/>
                  </a:lnTo>
                  <a:lnTo>
                    <a:pt x="20970240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F4F6FB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987257" cy="2016506"/>
            </a:xfrm>
            <a:custGeom>
              <a:avLst/>
              <a:gdLst/>
              <a:ahLst/>
              <a:cxnLst/>
              <a:rect r="r" b="b" t="t" l="l"/>
              <a:pathLst>
                <a:path h="2016506" w="20987257">
                  <a:moveTo>
                    <a:pt x="8509" y="0"/>
                  </a:moveTo>
                  <a:lnTo>
                    <a:pt x="20978749" y="0"/>
                  </a:lnTo>
                  <a:cubicBezTo>
                    <a:pt x="20983448" y="0"/>
                    <a:pt x="20987257" y="3810"/>
                    <a:pt x="20987257" y="8509"/>
                  </a:cubicBezTo>
                  <a:lnTo>
                    <a:pt x="20987257" y="2007997"/>
                  </a:lnTo>
                  <a:cubicBezTo>
                    <a:pt x="20987257" y="2012696"/>
                    <a:pt x="20983448" y="2016506"/>
                    <a:pt x="20978749" y="2016506"/>
                  </a:cubicBezTo>
                  <a:lnTo>
                    <a:pt x="8509" y="2016506"/>
                  </a:lnTo>
                  <a:cubicBezTo>
                    <a:pt x="3810" y="2016506"/>
                    <a:pt x="0" y="2012696"/>
                    <a:pt x="0" y="20079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07997"/>
                  </a:lnTo>
                  <a:lnTo>
                    <a:pt x="8509" y="2007997"/>
                  </a:lnTo>
                  <a:lnTo>
                    <a:pt x="8509" y="1999488"/>
                  </a:lnTo>
                  <a:lnTo>
                    <a:pt x="20978749" y="1999488"/>
                  </a:lnTo>
                  <a:lnTo>
                    <a:pt x="20978749" y="2007997"/>
                  </a:lnTo>
                  <a:lnTo>
                    <a:pt x="20970239" y="2007997"/>
                  </a:lnTo>
                  <a:lnTo>
                    <a:pt x="20970239" y="8509"/>
                  </a:lnTo>
                  <a:lnTo>
                    <a:pt x="20978749" y="8509"/>
                  </a:lnTo>
                  <a:lnTo>
                    <a:pt x="209787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816103" y="8258556"/>
            <a:ext cx="4597403" cy="381000"/>
            <a:chOff x="0" y="0"/>
            <a:chExt cx="6129871" cy="508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129867" cy="508003"/>
            </a:xfrm>
            <a:custGeom>
              <a:avLst/>
              <a:gdLst/>
              <a:ahLst/>
              <a:cxnLst/>
              <a:rect r="r" b="b" t="t" l="l"/>
              <a:pathLst>
                <a:path h="508003" w="6129867">
                  <a:moveTo>
                    <a:pt x="0" y="0"/>
                  </a:moveTo>
                  <a:lnTo>
                    <a:pt x="6129867" y="0"/>
                  </a:lnTo>
                  <a:lnTo>
                    <a:pt x="6129867" y="508003"/>
                  </a:lnTo>
                  <a:lnTo>
                    <a:pt x="0" y="5080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118" r="0" b="-18511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6129871" cy="51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IPC (inflación)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388103" y="8195053"/>
            <a:ext cx="4048754" cy="595511"/>
            <a:chOff x="0" y="0"/>
            <a:chExt cx="5398338" cy="79401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98344" cy="794008"/>
            </a:xfrm>
            <a:custGeom>
              <a:avLst/>
              <a:gdLst/>
              <a:ahLst/>
              <a:cxnLst/>
              <a:rect r="r" b="b" t="t" l="l"/>
              <a:pathLst>
                <a:path h="794008" w="5398344">
                  <a:moveTo>
                    <a:pt x="0" y="0"/>
                  </a:moveTo>
                  <a:lnTo>
                    <a:pt x="5398344" y="0"/>
                  </a:lnTo>
                  <a:lnTo>
                    <a:pt x="5398344" y="794008"/>
                  </a:lnTo>
                  <a:lnTo>
                    <a:pt x="0" y="794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822" r="0" b="-7512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5398338" cy="794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3B82F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92,2 </a:t>
              </a:r>
              <a:r>
                <a:rPr lang="en-US" sz="3200" b="true">
                  <a:solidFill>
                    <a:srgbClr val="3B82F6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– 94,8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594343" y="8302085"/>
            <a:ext cx="6243323" cy="293932"/>
            <a:chOff x="0" y="0"/>
            <a:chExt cx="8324431" cy="39190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324429" cy="391915"/>
            </a:xfrm>
            <a:custGeom>
              <a:avLst/>
              <a:gdLst/>
              <a:ahLst/>
              <a:cxnLst/>
              <a:rect r="r" b="b" t="t" l="l"/>
              <a:pathLst>
                <a:path h="391915" w="8324429">
                  <a:moveTo>
                    <a:pt x="0" y="0"/>
                  </a:moveTo>
                  <a:lnTo>
                    <a:pt x="8324429" y="0"/>
                  </a:lnTo>
                  <a:lnTo>
                    <a:pt x="8324429" y="391915"/>
                  </a:lnTo>
                  <a:lnTo>
                    <a:pt x="0" y="3919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3871" r="0" b="-36386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8324431" cy="439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4748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Deflación en 2009 (base 2010=100)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50334" y="9370057"/>
            <a:ext cx="15570203" cy="279406"/>
            <a:chOff x="0" y="0"/>
            <a:chExt cx="20760271" cy="37254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760269" cy="372536"/>
            </a:xfrm>
            <a:custGeom>
              <a:avLst/>
              <a:gdLst/>
              <a:ahLst/>
              <a:cxnLst/>
              <a:rect r="r" b="b" t="t" l="l"/>
              <a:pathLst>
                <a:path h="372536" w="20760269">
                  <a:moveTo>
                    <a:pt x="0" y="0"/>
                  </a:moveTo>
                  <a:lnTo>
                    <a:pt x="20760269" y="0"/>
                  </a:lnTo>
                  <a:lnTo>
                    <a:pt x="20760269" y="372536"/>
                  </a:lnTo>
                  <a:lnTo>
                    <a:pt x="0" y="3725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5839" r="0" b="-103584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0760271" cy="410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Fuentes: BCE, Eurostat, INE Portugal, Comisión Europea (DG ECFIN)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5131"/>
            <a:chOff x="0" y="0"/>
            <a:chExt cx="24417871" cy="180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74503" y="-2755906"/>
            <a:ext cx="10998203" cy="10998203"/>
            <a:chOff x="0" y="0"/>
            <a:chExt cx="14664271" cy="146642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6891" y="16891"/>
              <a:ext cx="14630399" cy="14630401"/>
            </a:xfrm>
            <a:custGeom>
              <a:avLst/>
              <a:gdLst/>
              <a:ahLst/>
              <a:cxnLst/>
              <a:rect r="r" b="b" t="t" l="l"/>
              <a:pathLst>
                <a:path h="14630401" w="14630399">
                  <a:moveTo>
                    <a:pt x="0" y="7315200"/>
                  </a:moveTo>
                  <a:cubicBezTo>
                    <a:pt x="0" y="3275076"/>
                    <a:pt x="3275076" y="0"/>
                    <a:pt x="7315200" y="0"/>
                  </a:cubicBezTo>
                  <a:cubicBezTo>
                    <a:pt x="11355324" y="0"/>
                    <a:pt x="14630399" y="3275076"/>
                    <a:pt x="14630399" y="7315200"/>
                  </a:cubicBezTo>
                  <a:cubicBezTo>
                    <a:pt x="14630399" y="11355324"/>
                    <a:pt x="11355324" y="14630401"/>
                    <a:pt x="7315200" y="14630401"/>
                  </a:cubicBezTo>
                  <a:cubicBezTo>
                    <a:pt x="3275076" y="14630401"/>
                    <a:pt x="0" y="11355324"/>
                    <a:pt x="0" y="7315200"/>
                  </a:cubicBezTo>
                  <a:close/>
                </a:path>
              </a:pathLst>
            </a:custGeom>
            <a:solidFill>
              <a:srgbClr val="2A3A6E">
                <a:alpha val="1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821938" y="3919219"/>
            <a:ext cx="12644123" cy="2448562"/>
            <a:chOff x="0" y="0"/>
            <a:chExt cx="16858831" cy="32647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858830" cy="3264748"/>
            </a:xfrm>
            <a:custGeom>
              <a:avLst/>
              <a:gdLst/>
              <a:ahLst/>
              <a:cxnLst/>
              <a:rect r="r" b="b" t="t" l="l"/>
              <a:pathLst>
                <a:path h="3264748" w="16858830">
                  <a:moveTo>
                    <a:pt x="0" y="0"/>
                  </a:moveTo>
                  <a:lnTo>
                    <a:pt x="16858830" y="0"/>
                  </a:lnTo>
                  <a:lnTo>
                    <a:pt x="16858830" y="3264748"/>
                  </a:lnTo>
                  <a:lnTo>
                    <a:pt x="0" y="32647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18" r="0" b="-506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16858831" cy="3369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23"/>
                </a:lnSpc>
              </a:pPr>
              <a:r>
                <a:rPr lang="en-US" sz="81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Análisis exploratorio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0334" y="810349"/>
            <a:ext cx="14655803" cy="428536"/>
            <a:chOff x="0" y="0"/>
            <a:chExt cx="19541071" cy="5713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41069" cy="571384"/>
            </a:xfrm>
            <a:custGeom>
              <a:avLst/>
              <a:gdLst/>
              <a:ahLst/>
              <a:cxnLst/>
              <a:rect r="r" b="b" t="t" l="l"/>
              <a:pathLst>
                <a:path h="571384" w="19541069">
                  <a:moveTo>
                    <a:pt x="0" y="0"/>
                  </a:moveTo>
                  <a:lnTo>
                    <a:pt x="19541069" y="0"/>
                  </a:lnTo>
                  <a:lnTo>
                    <a:pt x="19541069" y="571384"/>
                  </a:lnTo>
                  <a:lnTo>
                    <a:pt x="0" y="5713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1430" r="0" b="-60132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541071" cy="609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ANÁLISIS EXPLORATORIO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52630" y="1229360"/>
            <a:ext cx="4782741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9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1E2761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Perfil del cliente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86805" y="2965002"/>
            <a:ext cx="16172495" cy="6869526"/>
          </a:xfrm>
          <a:custGeom>
            <a:avLst/>
            <a:gdLst/>
            <a:ahLst/>
            <a:cxnLst/>
            <a:rect r="r" b="b" t="t" l="l"/>
            <a:pathLst>
              <a:path h="6869526" w="16172495">
                <a:moveTo>
                  <a:pt x="0" y="0"/>
                </a:moveTo>
                <a:lnTo>
                  <a:pt x="16172495" y="0"/>
                </a:lnTo>
                <a:lnTo>
                  <a:pt x="16172495" y="6869526"/>
                </a:lnTo>
                <a:lnTo>
                  <a:pt x="0" y="68695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450334" y="2121849"/>
            <a:ext cx="8529323" cy="53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6"/>
              </a:lnSpc>
            </a:pPr>
            <a:r>
              <a:rPr lang="en-US" sz="26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Edad | Empleo | Educación | N.º contactos previos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73767" y="4224719"/>
            <a:ext cx="9140467" cy="5769920"/>
          </a:xfrm>
          <a:custGeom>
            <a:avLst/>
            <a:gdLst/>
            <a:ahLst/>
            <a:cxnLst/>
            <a:rect r="r" b="b" t="t" l="l"/>
            <a:pathLst>
              <a:path h="5769920" w="9140467">
                <a:moveTo>
                  <a:pt x="0" y="0"/>
                </a:moveTo>
                <a:lnTo>
                  <a:pt x="9140466" y="0"/>
                </a:lnTo>
                <a:lnTo>
                  <a:pt x="9140466" y="5769920"/>
                </a:lnTo>
                <a:lnTo>
                  <a:pt x="0" y="5769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450334" y="810349"/>
            <a:ext cx="14655803" cy="428536"/>
            <a:chOff x="0" y="0"/>
            <a:chExt cx="19541071" cy="5713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41069" cy="571384"/>
            </a:xfrm>
            <a:custGeom>
              <a:avLst/>
              <a:gdLst/>
              <a:ahLst/>
              <a:cxnLst/>
              <a:rect r="r" b="b" t="t" l="l"/>
              <a:pathLst>
                <a:path h="571384" w="19541069">
                  <a:moveTo>
                    <a:pt x="0" y="0"/>
                  </a:moveTo>
                  <a:lnTo>
                    <a:pt x="19541069" y="0"/>
                  </a:lnTo>
                  <a:lnTo>
                    <a:pt x="19541069" y="571384"/>
                  </a:lnTo>
                  <a:lnTo>
                    <a:pt x="0" y="571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430" r="0" b="-60132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541071" cy="609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ANÁLISIS EXPLORATORIO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096393" y="1229360"/>
            <a:ext cx="14095214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9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1E2761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Variables relevantes: Variables macroeconómicas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0334" y="2107597"/>
            <a:ext cx="17218703" cy="1867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Euribor con fuerte relación significativa. Correlación negativa.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Diferenci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as claras en tasas de conversión.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accionables directamente.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Permiten 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ajustar estrategia según contexto.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49002" y="1229360"/>
            <a:ext cx="7589997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9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1E2761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Variables relevantes: Edad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0334" y="2164031"/>
            <a:ext cx="17218703" cy="1867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Diferenci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as claras entre tasas de conversión. Leve correlación negativa.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18–25 años: ~24% conversión (más del doble de la tasa general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 y +65 años casi el 50%.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Relación significativa e inten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sidad media.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Variable accionable (segmentación comercial).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579071" y="4336366"/>
            <a:ext cx="9129858" cy="5761087"/>
          </a:xfrm>
          <a:custGeom>
            <a:avLst/>
            <a:gdLst/>
            <a:ahLst/>
            <a:cxnLst/>
            <a:rect r="r" b="b" t="t" l="l"/>
            <a:pathLst>
              <a:path h="5761087" w="9129858">
                <a:moveTo>
                  <a:pt x="0" y="0"/>
                </a:moveTo>
                <a:lnTo>
                  <a:pt x="9129858" y="0"/>
                </a:lnTo>
                <a:lnTo>
                  <a:pt x="9129858" y="5761087"/>
                </a:lnTo>
                <a:lnTo>
                  <a:pt x="0" y="5761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450334" y="810349"/>
            <a:ext cx="14655803" cy="428536"/>
            <a:chOff x="0" y="0"/>
            <a:chExt cx="19541071" cy="5713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41069" cy="571384"/>
            </a:xfrm>
            <a:custGeom>
              <a:avLst/>
              <a:gdLst/>
              <a:ahLst/>
              <a:cxnLst/>
              <a:rect r="r" b="b" t="t" l="l"/>
              <a:pathLst>
                <a:path h="571384" w="19541069">
                  <a:moveTo>
                    <a:pt x="0" y="0"/>
                  </a:moveTo>
                  <a:lnTo>
                    <a:pt x="19541069" y="0"/>
                  </a:lnTo>
                  <a:lnTo>
                    <a:pt x="19541069" y="571384"/>
                  </a:lnTo>
                  <a:lnTo>
                    <a:pt x="0" y="571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430" r="0" b="-60132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541071" cy="609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ANÁLISIS EXPLORATORIO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21295" y="4182129"/>
            <a:ext cx="9445409" cy="5844347"/>
          </a:xfrm>
          <a:custGeom>
            <a:avLst/>
            <a:gdLst/>
            <a:ahLst/>
            <a:cxnLst/>
            <a:rect r="r" b="b" t="t" l="l"/>
            <a:pathLst>
              <a:path h="5844347" w="9445409">
                <a:moveTo>
                  <a:pt x="0" y="0"/>
                </a:moveTo>
                <a:lnTo>
                  <a:pt x="9445410" y="0"/>
                </a:lnTo>
                <a:lnTo>
                  <a:pt x="9445410" y="5844347"/>
                </a:lnTo>
                <a:lnTo>
                  <a:pt x="0" y="58443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4988242" y="1229360"/>
            <a:ext cx="831151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9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1E2761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Variables relevantes: Empleo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50334" y="2085994"/>
            <a:ext cx="17218703" cy="1867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Tasas de conversión muy diferenci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adas entre categorías.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Estudiantes: 31,43% y jubilados 25%.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Variable con relación significativa e i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ntensidad superi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 a la edad.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Altament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 accionable por parte de la entidad.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50334" y="810349"/>
            <a:ext cx="14655803" cy="428536"/>
            <a:chOff x="0" y="0"/>
            <a:chExt cx="19541071" cy="5713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41069" cy="571384"/>
            </a:xfrm>
            <a:custGeom>
              <a:avLst/>
              <a:gdLst/>
              <a:ahLst/>
              <a:cxnLst/>
              <a:rect r="r" b="b" t="t" l="l"/>
              <a:pathLst>
                <a:path h="571384" w="19541069">
                  <a:moveTo>
                    <a:pt x="0" y="0"/>
                  </a:moveTo>
                  <a:lnTo>
                    <a:pt x="19541069" y="0"/>
                  </a:lnTo>
                  <a:lnTo>
                    <a:pt x="19541069" y="571384"/>
                  </a:lnTo>
                  <a:lnTo>
                    <a:pt x="0" y="571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430" r="0" b="-60132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541071" cy="609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ANÁLISIS EXPLORATORIO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0334" y="810349"/>
            <a:ext cx="14655803" cy="428536"/>
            <a:chOff x="0" y="0"/>
            <a:chExt cx="19541071" cy="5713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41069" cy="571384"/>
            </a:xfrm>
            <a:custGeom>
              <a:avLst/>
              <a:gdLst/>
              <a:ahLst/>
              <a:cxnLst/>
              <a:rect r="r" b="b" t="t" l="l"/>
              <a:pathLst>
                <a:path h="571384" w="19541069">
                  <a:moveTo>
                    <a:pt x="0" y="0"/>
                  </a:moveTo>
                  <a:lnTo>
                    <a:pt x="19541069" y="0"/>
                  </a:lnTo>
                  <a:lnTo>
                    <a:pt x="19541069" y="571384"/>
                  </a:lnTo>
                  <a:lnTo>
                    <a:pt x="0" y="5713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1430" r="0" b="-60132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541071" cy="609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ANÁLISIS EXPLORATORIO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53902" y="4295264"/>
            <a:ext cx="9180197" cy="5737623"/>
          </a:xfrm>
          <a:custGeom>
            <a:avLst/>
            <a:gdLst/>
            <a:ahLst/>
            <a:cxnLst/>
            <a:rect r="r" b="b" t="t" l="l"/>
            <a:pathLst>
              <a:path h="5737623" w="9180197">
                <a:moveTo>
                  <a:pt x="0" y="0"/>
                </a:moveTo>
                <a:lnTo>
                  <a:pt x="9180196" y="0"/>
                </a:lnTo>
                <a:lnTo>
                  <a:pt x="9180196" y="5737623"/>
                </a:lnTo>
                <a:lnTo>
                  <a:pt x="0" y="57376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2998291" y="1229360"/>
            <a:ext cx="12291417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9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1E2761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Variables relevantes: N.º contactos previos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0334" y="2141979"/>
            <a:ext cx="17218703" cy="1867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Existen tasas de conversión con grandes diferencias entre categorías. Correlación positiva.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Variable de la campaña con mayor relación significativa con la suscripción del crédito.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 con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tactos previos (~8%), 1 contacto previo (~21%), 2 contactos previos (~46%). </a:t>
            </a:r>
            <a:r>
              <a:rPr lang="en-US" sz="2599" u="sng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 contactos previos (~59%). 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 una variable muy a tener en cuenta para que la entidad actúe en futuras campañas.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33528" y="4052148"/>
            <a:ext cx="8820943" cy="5568221"/>
          </a:xfrm>
          <a:custGeom>
            <a:avLst/>
            <a:gdLst/>
            <a:ahLst/>
            <a:cxnLst/>
            <a:rect r="r" b="b" t="t" l="l"/>
            <a:pathLst>
              <a:path h="5568221" w="8820943">
                <a:moveTo>
                  <a:pt x="0" y="0"/>
                </a:moveTo>
                <a:lnTo>
                  <a:pt x="8820944" y="0"/>
                </a:lnTo>
                <a:lnTo>
                  <a:pt x="8820944" y="5568220"/>
                </a:lnTo>
                <a:lnTo>
                  <a:pt x="0" y="55682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757557" y="1229360"/>
            <a:ext cx="1477288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59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1E2761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Variables relevantes: Resultado campaña anterior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50334" y="2064028"/>
            <a:ext cx="17218703" cy="1867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Aparecen grandes diferencias en la tasa de conversión entre categorías.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Existe relación significativa con la variable de suscripción al crédito con una intensidad media.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Cliente sin campaña previa → ~8%. Cliente con campaña fallida → ~14% y con campaña exitosa → &gt;65%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Variable 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accionable (prio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rización de clientes).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0334" y="9636178"/>
            <a:ext cx="17218703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Duración llamada: Alta significancia pero sin sentido accionar sobre ella (post-contratación).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50334" y="810349"/>
            <a:ext cx="14655803" cy="428536"/>
            <a:chOff x="0" y="0"/>
            <a:chExt cx="19541071" cy="5713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41069" cy="571384"/>
            </a:xfrm>
            <a:custGeom>
              <a:avLst/>
              <a:gdLst/>
              <a:ahLst/>
              <a:cxnLst/>
              <a:rect r="r" b="b" t="t" l="l"/>
              <a:pathLst>
                <a:path h="571384" w="19541069">
                  <a:moveTo>
                    <a:pt x="0" y="0"/>
                  </a:moveTo>
                  <a:lnTo>
                    <a:pt x="19541069" y="0"/>
                  </a:lnTo>
                  <a:lnTo>
                    <a:pt x="19541069" y="571384"/>
                  </a:lnTo>
                  <a:lnTo>
                    <a:pt x="0" y="571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430" r="0" b="-60132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541071" cy="609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ANÁLISIS EXPLORATORIO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5131"/>
            <a:chOff x="0" y="0"/>
            <a:chExt cx="24417871" cy="180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74503" y="-2755906"/>
            <a:ext cx="10998203" cy="10998203"/>
            <a:chOff x="0" y="0"/>
            <a:chExt cx="14664271" cy="146642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6891" y="16891"/>
              <a:ext cx="14630399" cy="14630401"/>
            </a:xfrm>
            <a:custGeom>
              <a:avLst/>
              <a:gdLst/>
              <a:ahLst/>
              <a:cxnLst/>
              <a:rect r="r" b="b" t="t" l="l"/>
              <a:pathLst>
                <a:path h="14630401" w="14630399">
                  <a:moveTo>
                    <a:pt x="0" y="7315200"/>
                  </a:moveTo>
                  <a:cubicBezTo>
                    <a:pt x="0" y="3275076"/>
                    <a:pt x="3275076" y="0"/>
                    <a:pt x="7315200" y="0"/>
                  </a:cubicBezTo>
                  <a:cubicBezTo>
                    <a:pt x="11355324" y="0"/>
                    <a:pt x="14630399" y="3275076"/>
                    <a:pt x="14630399" y="7315200"/>
                  </a:cubicBezTo>
                  <a:cubicBezTo>
                    <a:pt x="14630399" y="11355324"/>
                    <a:pt x="11355324" y="14630401"/>
                    <a:pt x="7315200" y="14630401"/>
                  </a:cubicBezTo>
                  <a:cubicBezTo>
                    <a:pt x="3275076" y="14630401"/>
                    <a:pt x="0" y="11355324"/>
                    <a:pt x="0" y="7315200"/>
                  </a:cubicBezTo>
                  <a:close/>
                </a:path>
              </a:pathLst>
            </a:custGeom>
            <a:solidFill>
              <a:srgbClr val="2A3A6E">
                <a:alpha val="1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821938" y="3919219"/>
            <a:ext cx="12644123" cy="2448562"/>
            <a:chOff x="0" y="0"/>
            <a:chExt cx="16858831" cy="32647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858830" cy="3264748"/>
            </a:xfrm>
            <a:custGeom>
              <a:avLst/>
              <a:gdLst/>
              <a:ahLst/>
              <a:cxnLst/>
              <a:rect r="r" b="b" t="t" l="l"/>
              <a:pathLst>
                <a:path h="3264748" w="16858830">
                  <a:moveTo>
                    <a:pt x="0" y="0"/>
                  </a:moveTo>
                  <a:lnTo>
                    <a:pt x="16858830" y="0"/>
                  </a:lnTo>
                  <a:lnTo>
                    <a:pt x="16858830" y="3264748"/>
                  </a:lnTo>
                  <a:lnTo>
                    <a:pt x="0" y="32647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18" r="0" b="-506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16858831" cy="3369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23"/>
                </a:lnSpc>
              </a:pPr>
              <a:r>
                <a:rPr lang="en-US" sz="81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Modelos predictivos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50459" y="4671221"/>
            <a:ext cx="12887308" cy="173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la hora de probar modelos, nos centramos principalmente en la regresión logística, ya que nos permitía </a:t>
            </a: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interpretar los resultados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y </a:t>
            </a:r>
            <a:r>
              <a:rPr lang="en-US" b="true" sz="3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comprender la contribución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cada variable en la predicción.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66212" y="802186"/>
            <a:ext cx="14655803" cy="299542"/>
            <a:chOff x="0" y="0"/>
            <a:chExt cx="19541071" cy="3993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41069" cy="399392"/>
            </a:xfrm>
            <a:custGeom>
              <a:avLst/>
              <a:gdLst/>
              <a:ahLst/>
              <a:cxnLst/>
              <a:rect r="r" b="b" t="t" l="l"/>
              <a:pathLst>
                <a:path h="399392" w="19541069">
                  <a:moveTo>
                    <a:pt x="0" y="0"/>
                  </a:moveTo>
                  <a:lnTo>
                    <a:pt x="19541069" y="0"/>
                  </a:lnTo>
                  <a:lnTo>
                    <a:pt x="19541069" y="399392"/>
                  </a:lnTo>
                  <a:lnTo>
                    <a:pt x="0" y="3993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3345" r="0" b="-90334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541071" cy="437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MODELOS, RESULTADO Y EVALUACION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864894" y="1475409"/>
            <a:ext cx="8558212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9"/>
              </a:lnSpc>
              <a:spcBef>
                <a:spcPct val="0"/>
              </a:spcBef>
            </a:pPr>
            <a:r>
              <a:rPr lang="en-US" b="true" sz="4800">
                <a:solidFill>
                  <a:srgbClr val="1E2761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Modelos de regresión logística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10112058"/>
            <a:ext cx="18288000" cy="174942"/>
            <a:chOff x="0" y="0"/>
            <a:chExt cx="24384000" cy="2332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609" y="2263"/>
              <a:ext cx="24344677" cy="228717"/>
            </a:xfrm>
            <a:custGeom>
              <a:avLst/>
              <a:gdLst/>
              <a:ahLst/>
              <a:cxnLst/>
              <a:rect r="r" b="b" t="t" l="l"/>
              <a:pathLst>
                <a:path h="228717" w="24344677">
                  <a:moveTo>
                    <a:pt x="0" y="0"/>
                  </a:moveTo>
                  <a:lnTo>
                    <a:pt x="24344677" y="0"/>
                  </a:lnTo>
                  <a:lnTo>
                    <a:pt x="24344677" y="228717"/>
                  </a:lnTo>
                  <a:lnTo>
                    <a:pt x="0" y="228717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0654" y="1082678"/>
            <a:ext cx="4966692" cy="1010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Regresion logistica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346701" y="1931673"/>
            <a:ext cx="5594598" cy="83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1E2761"/>
                </a:solidFill>
                <a:latin typeface="Calibri (MS)"/>
                <a:ea typeface="Calibri (MS)"/>
                <a:cs typeface="Calibri (MS)"/>
                <a:sym typeface="Calibri (MS)"/>
              </a:rPr>
              <a:t>Variables mas relevantes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14025" y="5010150"/>
            <a:ext cx="6260157" cy="244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Índice de Precios de Consumo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Personas sin impagos bancarios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Jubilados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Estudiantes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83196" y="8182610"/>
            <a:ext cx="10226408" cy="115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También encontró relevantes las variables donde el ultimo contacto fue en octubre y en agosto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30796" y="3005577"/>
            <a:ext cx="10226408" cy="115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Todos los modelos de regresión logística que usamos encontraron las mismas variables relevantes.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56687" y="802186"/>
            <a:ext cx="14655803" cy="299542"/>
            <a:chOff x="0" y="0"/>
            <a:chExt cx="19541071" cy="3993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41069" cy="399392"/>
            </a:xfrm>
            <a:custGeom>
              <a:avLst/>
              <a:gdLst/>
              <a:ahLst/>
              <a:cxnLst/>
              <a:rect r="r" b="b" t="t" l="l"/>
              <a:pathLst>
                <a:path h="399392" w="19541069">
                  <a:moveTo>
                    <a:pt x="0" y="0"/>
                  </a:moveTo>
                  <a:lnTo>
                    <a:pt x="19541069" y="0"/>
                  </a:lnTo>
                  <a:lnTo>
                    <a:pt x="19541069" y="399392"/>
                  </a:lnTo>
                  <a:lnTo>
                    <a:pt x="0" y="3993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3345" r="0" b="-90334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541071" cy="437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MODELOS, RESULTADO Y EVALUACION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6212" y="802186"/>
            <a:ext cx="14655803" cy="299542"/>
            <a:chOff x="0" y="0"/>
            <a:chExt cx="19541071" cy="399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41069" cy="399392"/>
            </a:xfrm>
            <a:custGeom>
              <a:avLst/>
              <a:gdLst/>
              <a:ahLst/>
              <a:cxnLst/>
              <a:rect r="r" b="b" t="t" l="l"/>
              <a:pathLst>
                <a:path h="399392" w="19541069">
                  <a:moveTo>
                    <a:pt x="0" y="0"/>
                  </a:moveTo>
                  <a:lnTo>
                    <a:pt x="19541069" y="0"/>
                  </a:lnTo>
                  <a:lnTo>
                    <a:pt x="19541069" y="399392"/>
                  </a:lnTo>
                  <a:lnTo>
                    <a:pt x="0" y="3993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3345" r="0" b="-90334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541071" cy="437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MODELOS, RESULTADO Y EVALUACION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112058"/>
            <a:ext cx="18288000" cy="174942"/>
            <a:chOff x="0" y="0"/>
            <a:chExt cx="24384000" cy="2332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609" y="2263"/>
              <a:ext cx="24344677" cy="228717"/>
            </a:xfrm>
            <a:custGeom>
              <a:avLst/>
              <a:gdLst/>
              <a:ahLst/>
              <a:cxnLst/>
              <a:rect r="r" b="b" t="t" l="l"/>
              <a:pathLst>
                <a:path h="228717" w="24344677">
                  <a:moveTo>
                    <a:pt x="0" y="0"/>
                  </a:moveTo>
                  <a:lnTo>
                    <a:pt x="24344677" y="0"/>
                  </a:lnTo>
                  <a:lnTo>
                    <a:pt x="24344677" y="228717"/>
                  </a:lnTo>
                  <a:lnTo>
                    <a:pt x="0" y="228717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4278171" y="3429975"/>
            <a:ext cx="9731658" cy="33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7"/>
              </a:lnSpc>
            </a:pPr>
            <a:r>
              <a:rPr lang="en-US" sz="307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Finalmente, optamos por un modelo XGBoost, ya que este:</a:t>
            </a:r>
          </a:p>
          <a:p>
            <a:pPr algn="l">
              <a:lnSpc>
                <a:spcPts val="4307"/>
              </a:lnSpc>
            </a:pPr>
          </a:p>
          <a:p>
            <a:pPr algn="l" marL="664271" indent="-332136" lvl="1">
              <a:lnSpc>
                <a:spcPts val="4307"/>
              </a:lnSpc>
              <a:buFont typeface="Arial"/>
              <a:buChar char="•"/>
            </a:pPr>
            <a:r>
              <a:rPr lang="en-US" sz="307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Captura </a:t>
            </a:r>
            <a:r>
              <a:rPr lang="en-US" b="true" sz="307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relaciones no lineales</a:t>
            </a:r>
          </a:p>
          <a:p>
            <a:pPr algn="l" marL="664271" indent="-332136" lvl="1">
              <a:lnSpc>
                <a:spcPts val="4307"/>
              </a:lnSpc>
              <a:buFont typeface="Arial"/>
              <a:buChar char="•"/>
            </a:pPr>
            <a:r>
              <a:rPr lang="en-US" b="true" sz="307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Maneja desbalance</a:t>
            </a:r>
            <a:r>
              <a:rPr lang="en-US" sz="307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 clases.</a:t>
            </a:r>
          </a:p>
          <a:p>
            <a:pPr algn="l" marL="664271" indent="-332136" lvl="1">
              <a:lnSpc>
                <a:spcPts val="4307"/>
              </a:lnSpc>
              <a:buFont typeface="Arial"/>
              <a:buChar char="•"/>
            </a:pPr>
            <a:r>
              <a:rPr lang="en-US" b="true" sz="307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Mayor rendimiento</a:t>
            </a:r>
            <a:r>
              <a:rPr lang="en-US" sz="307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predictivo que modelos lineales</a:t>
            </a:r>
          </a:p>
          <a:p>
            <a:pPr algn="l">
              <a:lnSpc>
                <a:spcPts val="430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871841" y="1507257"/>
            <a:ext cx="4544318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9"/>
              </a:lnSpc>
              <a:spcBef>
                <a:spcPct val="0"/>
              </a:spcBef>
            </a:pPr>
            <a:r>
              <a:rPr lang="en-US" b="true" sz="4800">
                <a:solidFill>
                  <a:srgbClr val="1E2761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Modelo XGBoost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46504" y="1177928"/>
            <a:ext cx="279499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E27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XGBoost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41107" y="1979298"/>
            <a:ext cx="7005786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true">
                <a:solidFill>
                  <a:srgbClr val="1E27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Variables mas relevantes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37907" y="5137666"/>
            <a:ext cx="7012186" cy="244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Número de trabajadores en el Pais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Índice de Precios de Consumo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Duración del último contacto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Indice de Confianza del Consumidor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30796" y="2967477"/>
            <a:ext cx="10226408" cy="115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 modelo de XGBoost encontró variables considerables distintas a los de regresion logistica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56687" y="802186"/>
            <a:ext cx="14655803" cy="299542"/>
            <a:chOff x="0" y="0"/>
            <a:chExt cx="19541071" cy="3993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41069" cy="399392"/>
            </a:xfrm>
            <a:custGeom>
              <a:avLst/>
              <a:gdLst/>
              <a:ahLst/>
              <a:cxnLst/>
              <a:rect r="r" b="b" t="t" l="l"/>
              <a:pathLst>
                <a:path h="399392" w="19541069">
                  <a:moveTo>
                    <a:pt x="0" y="0"/>
                  </a:moveTo>
                  <a:lnTo>
                    <a:pt x="19541069" y="0"/>
                  </a:lnTo>
                  <a:lnTo>
                    <a:pt x="19541069" y="399392"/>
                  </a:lnTo>
                  <a:lnTo>
                    <a:pt x="0" y="3993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3345" r="0" b="-90334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541071" cy="437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MODELOS, RESULTADO Y EVALUACION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5779" y="3032640"/>
            <a:ext cx="14934121" cy="5320281"/>
          </a:xfrm>
          <a:custGeom>
            <a:avLst/>
            <a:gdLst/>
            <a:ahLst/>
            <a:cxnLst/>
            <a:rect r="r" b="b" t="t" l="l"/>
            <a:pathLst>
              <a:path h="5320281" w="14934121">
                <a:moveTo>
                  <a:pt x="0" y="0"/>
                </a:moveTo>
                <a:lnTo>
                  <a:pt x="14934122" y="0"/>
                </a:lnTo>
                <a:lnTo>
                  <a:pt x="14934122" y="5320281"/>
                </a:lnTo>
                <a:lnTo>
                  <a:pt x="0" y="5320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34793" y="1006478"/>
            <a:ext cx="921841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E27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Resultados Modelo XGBoost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56687" y="802186"/>
            <a:ext cx="14655803" cy="299542"/>
            <a:chOff x="0" y="0"/>
            <a:chExt cx="19541071" cy="3993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41069" cy="399392"/>
            </a:xfrm>
            <a:custGeom>
              <a:avLst/>
              <a:gdLst/>
              <a:ahLst/>
              <a:cxnLst/>
              <a:rect r="r" b="b" t="t" l="l"/>
              <a:pathLst>
                <a:path h="399392" w="19541069">
                  <a:moveTo>
                    <a:pt x="0" y="0"/>
                  </a:moveTo>
                  <a:lnTo>
                    <a:pt x="19541069" y="0"/>
                  </a:lnTo>
                  <a:lnTo>
                    <a:pt x="19541069" y="399392"/>
                  </a:lnTo>
                  <a:lnTo>
                    <a:pt x="0" y="3993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3345" r="0" b="-9033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41071" cy="437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MODELOS, RESULTADO Y EVALUACION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32593" y="1792950"/>
            <a:ext cx="15103991" cy="798343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534793" y="1006478"/>
            <a:ext cx="921841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E27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Resultados Modelo XGBoost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56687" y="802186"/>
            <a:ext cx="14655803" cy="299542"/>
            <a:chOff x="0" y="0"/>
            <a:chExt cx="19541071" cy="3993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41069" cy="399392"/>
            </a:xfrm>
            <a:custGeom>
              <a:avLst/>
              <a:gdLst/>
              <a:ahLst/>
              <a:cxnLst/>
              <a:rect r="r" b="b" t="t" l="l"/>
              <a:pathLst>
                <a:path h="399392" w="19541069">
                  <a:moveTo>
                    <a:pt x="0" y="0"/>
                  </a:moveTo>
                  <a:lnTo>
                    <a:pt x="19541069" y="0"/>
                  </a:lnTo>
                  <a:lnTo>
                    <a:pt x="19541069" y="399392"/>
                  </a:lnTo>
                  <a:lnTo>
                    <a:pt x="0" y="3993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3345" r="0" b="-9033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41071" cy="437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MODELOS, RESULTADO Y EVALUACION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382494" y="1995222"/>
            <a:ext cx="5523012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true">
                <a:solidFill>
                  <a:srgbClr val="1E27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Matriz de confusion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5131"/>
            <a:chOff x="0" y="0"/>
            <a:chExt cx="24417871" cy="180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74503" y="-2755906"/>
            <a:ext cx="10998203" cy="10998203"/>
            <a:chOff x="0" y="0"/>
            <a:chExt cx="14664271" cy="146642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6891" y="16891"/>
              <a:ext cx="14630399" cy="14630401"/>
            </a:xfrm>
            <a:custGeom>
              <a:avLst/>
              <a:gdLst/>
              <a:ahLst/>
              <a:cxnLst/>
              <a:rect r="r" b="b" t="t" l="l"/>
              <a:pathLst>
                <a:path h="14630401" w="14630399">
                  <a:moveTo>
                    <a:pt x="0" y="7315200"/>
                  </a:moveTo>
                  <a:cubicBezTo>
                    <a:pt x="0" y="3275076"/>
                    <a:pt x="3275076" y="0"/>
                    <a:pt x="7315200" y="0"/>
                  </a:cubicBezTo>
                  <a:cubicBezTo>
                    <a:pt x="11355324" y="0"/>
                    <a:pt x="14630399" y="3275076"/>
                    <a:pt x="14630399" y="7315200"/>
                  </a:cubicBezTo>
                  <a:cubicBezTo>
                    <a:pt x="14630399" y="11355324"/>
                    <a:pt x="11355324" y="14630401"/>
                    <a:pt x="7315200" y="14630401"/>
                  </a:cubicBezTo>
                  <a:cubicBezTo>
                    <a:pt x="3275076" y="14630401"/>
                    <a:pt x="0" y="11355324"/>
                    <a:pt x="0" y="7315200"/>
                  </a:cubicBezTo>
                  <a:close/>
                </a:path>
              </a:pathLst>
            </a:custGeom>
            <a:solidFill>
              <a:srgbClr val="2A3A6E">
                <a:alpha val="1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821938" y="3919219"/>
            <a:ext cx="12644123" cy="2448562"/>
            <a:chOff x="0" y="0"/>
            <a:chExt cx="16858831" cy="32647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858830" cy="3264748"/>
            </a:xfrm>
            <a:custGeom>
              <a:avLst/>
              <a:gdLst/>
              <a:ahLst/>
              <a:cxnLst/>
              <a:rect r="r" b="b" t="t" l="l"/>
              <a:pathLst>
                <a:path h="3264748" w="16858830">
                  <a:moveTo>
                    <a:pt x="0" y="0"/>
                  </a:moveTo>
                  <a:lnTo>
                    <a:pt x="16858830" y="0"/>
                  </a:lnTo>
                  <a:lnTo>
                    <a:pt x="16858830" y="3264748"/>
                  </a:lnTo>
                  <a:lnTo>
                    <a:pt x="0" y="32647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18" r="0" b="-506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16858831" cy="3369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23"/>
                </a:lnSpc>
              </a:pPr>
              <a:r>
                <a:rPr lang="en-US" sz="81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Conclusiones 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4655803" cy="393874"/>
            <a:chOff x="0" y="0"/>
            <a:chExt cx="19541071" cy="5251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41069" cy="525167"/>
            </a:xfrm>
            <a:custGeom>
              <a:avLst/>
              <a:gdLst/>
              <a:ahLst/>
              <a:cxnLst/>
              <a:rect r="r" b="b" t="t" l="l"/>
              <a:pathLst>
                <a:path h="525167" w="19541069">
                  <a:moveTo>
                    <a:pt x="0" y="0"/>
                  </a:moveTo>
                  <a:lnTo>
                    <a:pt x="19541069" y="0"/>
                  </a:lnTo>
                  <a:lnTo>
                    <a:pt x="19541069" y="525167"/>
                  </a:lnTo>
                  <a:lnTo>
                    <a:pt x="0" y="5251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6998" r="0" b="-6630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541071" cy="563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CONCLUSIONES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44170" y="1534276"/>
            <a:ext cx="8801392" cy="8189126"/>
            <a:chOff x="0" y="0"/>
            <a:chExt cx="11735189" cy="10918835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0">
              <a:off x="1198413" y="5758615"/>
              <a:ext cx="9351791" cy="5939537"/>
            </a:xfrm>
            <a:prstGeom prst="rect">
              <a:avLst/>
            </a:prstGeom>
          </p:spPr>
        </p:pic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0">
              <a:off x="-1153973" y="-611980"/>
              <a:ext cx="14060904" cy="7681024"/>
            </a:xfrm>
            <a:prstGeom prst="rect">
              <a:avLst/>
            </a:prstGeom>
          </p:spPr>
        </p:pic>
        <p:sp>
          <p:nvSpPr>
            <p:cNvPr name="TextBox 8" id="8"/>
            <p:cNvSpPr txBox="true"/>
            <p:nvPr/>
          </p:nvSpPr>
          <p:spPr>
            <a:xfrm rot="0">
              <a:off x="0" y="-85725"/>
              <a:ext cx="11735189" cy="487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Relación conversión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92219" y="1600442"/>
            <a:ext cx="4051693" cy="8108700"/>
            <a:chOff x="0" y="0"/>
            <a:chExt cx="5402258" cy="10811600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0">
              <a:off x="-405079" y="-132167"/>
              <a:ext cx="6147839" cy="5822883"/>
            </a:xfrm>
            <a:prstGeom prst="rect">
              <a:avLst/>
            </a:prstGeom>
          </p:spPr>
        </p:pic>
        <p:sp>
          <p:nvSpPr>
            <p:cNvPr name="TextBox 11" id="11"/>
            <p:cNvSpPr txBox="true"/>
            <p:nvPr/>
          </p:nvSpPr>
          <p:spPr>
            <a:xfrm rot="0">
              <a:off x="0" y="-76200"/>
              <a:ext cx="5242857" cy="4563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Nº contactos previos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5353804"/>
              <a:ext cx="5242857" cy="4563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Estado campaña previa</a:t>
              </a:r>
            </a:p>
          </p:txBody>
        </p:sp>
        <p:pic>
          <p:nvPicPr>
            <p:cNvPr name="Picture 13" id="13"/>
            <p:cNvPicPr>
              <a:picLocks noChangeAspect="true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0">
              <a:off x="-190628" y="5504913"/>
              <a:ext cx="6101330" cy="5815131"/>
            </a:xfrm>
            <a:prstGeom prst="rect">
              <a:avLst/>
            </a:prstGeom>
          </p:spPr>
        </p:pic>
      </p:grp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98715" y="1545660"/>
            <a:ext cx="8284799" cy="3509714"/>
            <a:chOff x="0" y="0"/>
            <a:chExt cx="11046398" cy="46796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735194"/>
              <a:ext cx="2868993" cy="1909184"/>
            </a:xfrm>
            <a:custGeom>
              <a:avLst/>
              <a:gdLst/>
              <a:ahLst/>
              <a:cxnLst/>
              <a:rect r="r" b="b" t="t" l="l"/>
              <a:pathLst>
                <a:path h="1909184" w="2868993">
                  <a:moveTo>
                    <a:pt x="0" y="0"/>
                  </a:moveTo>
                  <a:lnTo>
                    <a:pt x="2868993" y="0"/>
                  </a:lnTo>
                  <a:lnTo>
                    <a:pt x="2868993" y="1909184"/>
                  </a:lnTo>
                  <a:lnTo>
                    <a:pt x="0" y="190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964515"/>
              <a:ext cx="2868993" cy="509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Proxy</a:t>
              </a:r>
            </a:p>
          </p:txBody>
        </p:sp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0">
              <a:off x="2268128" y="-798025"/>
              <a:ext cx="9576295" cy="6275667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1028700" y="1028700"/>
            <a:ext cx="14655803" cy="393874"/>
            <a:chOff x="0" y="0"/>
            <a:chExt cx="19541071" cy="5251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41069" cy="525167"/>
            </a:xfrm>
            <a:custGeom>
              <a:avLst/>
              <a:gdLst/>
              <a:ahLst/>
              <a:cxnLst/>
              <a:rect r="r" b="b" t="t" l="l"/>
              <a:pathLst>
                <a:path h="525167" w="19541069">
                  <a:moveTo>
                    <a:pt x="0" y="0"/>
                  </a:moveTo>
                  <a:lnTo>
                    <a:pt x="19541069" y="0"/>
                  </a:lnTo>
                  <a:lnTo>
                    <a:pt x="19541069" y="525167"/>
                  </a:lnTo>
                  <a:lnTo>
                    <a:pt x="0" y="5251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6998" r="0" b="-6630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541071" cy="563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CONCLUSIONES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95771" y="5942742"/>
            <a:ext cx="14994550" cy="3507370"/>
            <a:chOff x="0" y="0"/>
            <a:chExt cx="19992733" cy="4676494"/>
          </a:xfrm>
        </p:grpSpPr>
        <p:grpSp>
          <p:nvGrpSpPr>
            <p:cNvPr name="Group 11" id="11"/>
            <p:cNvGrpSpPr/>
            <p:nvPr/>
          </p:nvGrpSpPr>
          <p:grpSpPr>
            <a:xfrm rot="-10800000">
              <a:off x="1473180" y="2220952"/>
              <a:ext cx="828675" cy="802635"/>
              <a:chOff x="0" y="0"/>
              <a:chExt cx="812800" cy="787259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787259"/>
              </a:xfrm>
              <a:custGeom>
                <a:avLst/>
                <a:gdLst/>
                <a:ahLst/>
                <a:cxnLst/>
                <a:rect r="r" b="b" t="t" l="l"/>
                <a:pathLst>
                  <a:path h="787259" w="812800">
                    <a:moveTo>
                      <a:pt x="406400" y="787259"/>
                    </a:moveTo>
                    <a:lnTo>
                      <a:pt x="0" y="380859"/>
                    </a:lnTo>
                    <a:lnTo>
                      <a:pt x="203200" y="380859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380859"/>
                    </a:lnTo>
                    <a:lnTo>
                      <a:pt x="812800" y="380859"/>
                    </a:lnTo>
                    <a:lnTo>
                      <a:pt x="406400" y="787259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203200" y="-76200"/>
                <a:ext cx="406400" cy="761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473180" y="3560506"/>
              <a:ext cx="828675" cy="802635"/>
              <a:chOff x="0" y="0"/>
              <a:chExt cx="812800" cy="78725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787259"/>
              </a:xfrm>
              <a:custGeom>
                <a:avLst/>
                <a:gdLst/>
                <a:ahLst/>
                <a:cxnLst/>
                <a:rect r="r" b="b" t="t" l="l"/>
                <a:pathLst>
                  <a:path h="787259" w="812800">
                    <a:moveTo>
                      <a:pt x="406400" y="787259"/>
                    </a:moveTo>
                    <a:lnTo>
                      <a:pt x="0" y="380859"/>
                    </a:lnTo>
                    <a:lnTo>
                      <a:pt x="203200" y="380859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380859"/>
                    </a:lnTo>
                    <a:lnTo>
                      <a:pt x="812800" y="380859"/>
                    </a:lnTo>
                    <a:lnTo>
                      <a:pt x="406400" y="787259"/>
                    </a:lnTo>
                    <a:close/>
                  </a:path>
                </a:pathLst>
              </a:custGeom>
              <a:solidFill>
                <a:srgbClr val="FF313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203200" y="-76200"/>
                <a:ext cx="406400" cy="761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1953875" y="2344827"/>
              <a:ext cx="361950" cy="361950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406400"/>
                    </a:lnTo>
                    <a:lnTo>
                      <a:pt x="812800" y="406400"/>
                    </a:lnTo>
                    <a:lnTo>
                      <a:pt x="406400" y="812800"/>
                    </a:lnTo>
                    <a:close/>
                  </a:path>
                </a:pathLst>
              </a:custGeom>
              <a:solidFill>
                <a:srgbClr val="FF3131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203200" y="-76200"/>
                <a:ext cx="406400" cy="787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-10800000">
              <a:off x="11953875" y="2706777"/>
              <a:ext cx="361950" cy="361950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406400"/>
                    </a:lnTo>
                    <a:lnTo>
                      <a:pt x="812800" y="406400"/>
                    </a:lnTo>
                    <a:lnTo>
                      <a:pt x="406400" y="8128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203200" y="-76200"/>
                <a:ext cx="406400" cy="787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-10800000">
              <a:off x="11953875" y="3599873"/>
              <a:ext cx="361950" cy="361950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406400"/>
                    </a:lnTo>
                    <a:lnTo>
                      <a:pt x="812800" y="406400"/>
                    </a:lnTo>
                    <a:lnTo>
                      <a:pt x="406400" y="8128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203200" y="-76200"/>
                <a:ext cx="406400" cy="787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1953875" y="4032270"/>
              <a:ext cx="361950" cy="361950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406400"/>
                    </a:lnTo>
                    <a:lnTo>
                      <a:pt x="812800" y="406400"/>
                    </a:lnTo>
                    <a:lnTo>
                      <a:pt x="406400" y="812800"/>
                    </a:lnTo>
                    <a:close/>
                  </a:path>
                </a:pathLst>
              </a:custGeom>
              <a:solidFill>
                <a:srgbClr val="FF3131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203200" y="-76200"/>
                <a:ext cx="406400" cy="787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-123825"/>
              <a:ext cx="15500350" cy="689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Modelos predictivos</a:t>
              </a:r>
            </a:p>
          </p:txBody>
        </p:sp>
        <p:pic>
          <p:nvPicPr>
            <p:cNvPr name="Picture 30" id="30"/>
            <p:cNvPicPr>
              <a:picLocks noChangeAspect="true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0">
              <a:off x="15149625" y="-466961"/>
              <a:ext cx="5310069" cy="5603531"/>
            </a:xfrm>
            <a:prstGeom prst="rect">
              <a:avLst/>
            </a:prstGeom>
          </p:spPr>
        </p:pic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0" y="424180"/>
          <a:ext cx="11625262" cy="3083190"/>
        </p:xfrm>
        <a:graphic>
          <a:graphicData uri="http://schemas.openxmlformats.org/drawingml/2006/table">
            <a:tbl>
              <a:tblPr/>
              <a:tblGrid>
                <a:gridCol w="2960741"/>
                <a:gridCol w="2960741"/>
                <a:gridCol w="2851891"/>
                <a:gridCol w="2851891"/>
              </a:tblGrid>
              <a:tr h="11168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Euribor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Modelo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Metrica a maximizar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Comportamiento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Modelo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53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XGBoost umbral optimo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Precision suscribe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      Recall</a:t>
                      </a:r>
                      <a:endParaRPr lang="en-US" sz="1100"/>
                    </a:p>
                    <a:p>
                      <a:pPr algn="l">
                        <a:lnSpc>
                          <a:spcPts val="1960"/>
                        </a:lnSpc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      Precision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10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XGBoost umbral 0.5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0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Recall suscribe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      Recall</a:t>
                      </a:r>
                      <a:endParaRPr lang="en-US" sz="1100"/>
                    </a:p>
                    <a:p>
                      <a:pPr algn="l">
                        <a:lnSpc>
                          <a:spcPts val="1959"/>
                        </a:lnSpc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      Precision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38343" y="2878530"/>
            <a:ext cx="12411315" cy="5107783"/>
            <a:chOff x="0" y="0"/>
            <a:chExt cx="16548420" cy="681037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23825"/>
              <a:ext cx="16548420" cy="689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Clusterización de clientes</a:t>
              </a:r>
            </a:p>
          </p:txBody>
        </p:sp>
      </p:grp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0" y="424180"/>
          <a:ext cx="12411315" cy="4683603"/>
        </p:xfrm>
        <a:graphic>
          <a:graphicData uri="http://schemas.openxmlformats.org/drawingml/2006/table">
            <a:tbl>
              <a:tblPr/>
              <a:tblGrid>
                <a:gridCol w="3872216"/>
                <a:gridCol w="3575111"/>
                <a:gridCol w="4963988"/>
              </a:tblGrid>
              <a:tr h="8354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Segmento cliente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Perfil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Comportamiento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52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🏠 Hipotecado Asfixiado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Endeudamiento &gt; 40%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Ahorro negativo cuando sube el Euríbor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77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🛡️ Conservador con Liquidez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Saldos altos, sin deuda, 45+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Busca seguridad con tipos altos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77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📈 Inversor Sofisticado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Broker + experiencia en RV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Compara depósito vs. otros activos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74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💼 Ahorrador Pasivo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Nómina estable + ahorro moderado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Reactivo al marketing cuando el dinero es barato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5" id="5"/>
          <p:cNvGrpSpPr/>
          <p:nvPr/>
        </p:nvGrpSpPr>
        <p:grpSpPr>
          <a:xfrm rot="0">
            <a:off x="1028700" y="1028700"/>
            <a:ext cx="14655803" cy="393874"/>
            <a:chOff x="0" y="0"/>
            <a:chExt cx="19541071" cy="5251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41069" cy="525167"/>
            </a:xfrm>
            <a:custGeom>
              <a:avLst/>
              <a:gdLst/>
              <a:ahLst/>
              <a:cxnLst/>
              <a:rect r="r" b="b" t="t" l="l"/>
              <a:pathLst>
                <a:path h="525167" w="19541069">
                  <a:moveTo>
                    <a:pt x="0" y="0"/>
                  </a:moveTo>
                  <a:lnTo>
                    <a:pt x="19541069" y="0"/>
                  </a:lnTo>
                  <a:lnTo>
                    <a:pt x="19541069" y="525167"/>
                  </a:lnTo>
                  <a:lnTo>
                    <a:pt x="0" y="5251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6998" r="0" b="-66304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541071" cy="563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3B8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CONCLUSIONES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509676" y="1619367"/>
            <a:ext cx="5268648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59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1E2761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Lineas futuras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5131"/>
            <a:chOff x="0" y="0"/>
            <a:chExt cx="24417871" cy="180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74503" y="-2755906"/>
            <a:ext cx="10998203" cy="10998203"/>
            <a:chOff x="0" y="0"/>
            <a:chExt cx="14664271" cy="146642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6891" y="16891"/>
              <a:ext cx="14630399" cy="14630401"/>
            </a:xfrm>
            <a:custGeom>
              <a:avLst/>
              <a:gdLst/>
              <a:ahLst/>
              <a:cxnLst/>
              <a:rect r="r" b="b" t="t" l="l"/>
              <a:pathLst>
                <a:path h="14630401" w="14630399">
                  <a:moveTo>
                    <a:pt x="0" y="7315200"/>
                  </a:moveTo>
                  <a:cubicBezTo>
                    <a:pt x="0" y="3275076"/>
                    <a:pt x="3275076" y="0"/>
                    <a:pt x="7315200" y="0"/>
                  </a:cubicBezTo>
                  <a:cubicBezTo>
                    <a:pt x="11355324" y="0"/>
                    <a:pt x="14630399" y="3275076"/>
                    <a:pt x="14630399" y="7315200"/>
                  </a:cubicBezTo>
                  <a:cubicBezTo>
                    <a:pt x="14630399" y="11355324"/>
                    <a:pt x="11355324" y="14630401"/>
                    <a:pt x="7315200" y="14630401"/>
                  </a:cubicBezTo>
                  <a:cubicBezTo>
                    <a:pt x="3275076" y="14630401"/>
                    <a:pt x="0" y="11355324"/>
                    <a:pt x="0" y="7315200"/>
                  </a:cubicBezTo>
                  <a:close/>
                </a:path>
              </a:pathLst>
            </a:custGeom>
            <a:solidFill>
              <a:srgbClr val="2A3A6E">
                <a:alpha val="1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821938" y="3919219"/>
            <a:ext cx="12644123" cy="2448562"/>
            <a:chOff x="0" y="0"/>
            <a:chExt cx="16858831" cy="32647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858830" cy="3264748"/>
            </a:xfrm>
            <a:custGeom>
              <a:avLst/>
              <a:gdLst/>
              <a:ahLst/>
              <a:cxnLst/>
              <a:rect r="r" b="b" t="t" l="l"/>
              <a:pathLst>
                <a:path h="3264748" w="16858830">
                  <a:moveTo>
                    <a:pt x="0" y="0"/>
                  </a:moveTo>
                  <a:lnTo>
                    <a:pt x="16858830" y="0"/>
                  </a:lnTo>
                  <a:lnTo>
                    <a:pt x="16858830" y="3264748"/>
                  </a:lnTo>
                  <a:lnTo>
                    <a:pt x="0" y="32647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618" r="0" b="-5061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16858831" cy="3369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23"/>
                </a:lnSpc>
              </a:pPr>
              <a:r>
                <a:rPr lang="en-US" sz="8199" b="true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¡Gracias por su atención! 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DAHCN3_7t9Q</dc:identifier>
  <dcterms:modified xsi:type="dcterms:W3CDTF">2011-08-01T06:04:30Z</dcterms:modified>
  <cp:revision>1</cp:revision>
  <dc:title>Presentación proyecto data analyst</dc:title>
</cp:coreProperties>
</file>